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81" r:id="rId1"/>
  </p:sldMasterIdLst>
  <p:sldIdLst>
    <p:sldId id="256" r:id="rId2"/>
    <p:sldId id="257" r:id="rId3"/>
    <p:sldId id="258" r:id="rId4"/>
    <p:sldId id="287" r:id="rId5"/>
    <p:sldId id="259" r:id="rId6"/>
    <p:sldId id="275" r:id="rId7"/>
    <p:sldId id="270" r:id="rId8"/>
    <p:sldId id="260" r:id="rId9"/>
    <p:sldId id="276" r:id="rId10"/>
    <p:sldId id="269" r:id="rId11"/>
    <p:sldId id="261" r:id="rId12"/>
    <p:sldId id="285" r:id="rId13"/>
    <p:sldId id="277" r:id="rId14"/>
    <p:sldId id="278" r:id="rId15"/>
    <p:sldId id="289" r:id="rId16"/>
    <p:sldId id="282" r:id="rId17"/>
    <p:sldId id="290" r:id="rId18"/>
    <p:sldId id="283" r:id="rId19"/>
    <p:sldId id="284" r:id="rId20"/>
    <p:sldId id="271" r:id="rId21"/>
    <p:sldId id="28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2F"/>
    <a:srgbClr val="2E2E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85" autoAdjust="0"/>
    <p:restoredTop sz="94660"/>
  </p:normalViewPr>
  <p:slideViewPr>
    <p:cSldViewPr snapToGrid="0">
      <p:cViewPr varScale="1">
        <p:scale>
          <a:sx n="62" d="100"/>
          <a:sy n="62" d="100"/>
        </p:scale>
        <p:origin x="848" y="7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7164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21551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2128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610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146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748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4630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5084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16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704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1170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4289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5482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5494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4463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7463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8840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1BEF0D-F0BB-DE4B-95CE-6DB70DBA9567}" type="datetimeFigureOut">
              <a:rPr lang="en-US" smtClean="0"/>
              <a:pPr/>
              <a:t>3/7/2026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03564486"/>
      </p:ext>
    </p:extLst>
  </p:cSld>
  <p:clrMap bg1="dk1" tx1="lt1" bg2="dk2" tx2="lt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 id="2147483994" r:id="rId13"/>
    <p:sldLayoutId id="2147483995" r:id="rId14"/>
    <p:sldLayoutId id="2147483996" r:id="rId15"/>
    <p:sldLayoutId id="2147483997" r:id="rId16"/>
    <p:sldLayoutId id="2147483998"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4D13-8465-AD1F-18A7-A51A11A64EBC}"/>
              </a:ext>
            </a:extLst>
          </p:cNvPr>
          <p:cNvSpPr>
            <a:spLocks noGrp="1"/>
          </p:cNvSpPr>
          <p:nvPr>
            <p:ph type="ctrTitle"/>
          </p:nvPr>
        </p:nvSpPr>
        <p:spPr>
          <a:xfrm>
            <a:off x="554388" y="1717924"/>
            <a:ext cx="11356258" cy="1767348"/>
          </a:xfrm>
        </p:spPr>
        <p:txBody>
          <a:bodyPr>
            <a:normAutofit/>
          </a:bodyPr>
          <a:lstStyle/>
          <a:p>
            <a:r>
              <a:rPr lang="en-US" dirty="0">
                <a:solidFill>
                  <a:srgbClr val="FFC000"/>
                </a:solidFill>
              </a:rPr>
              <a:t>YOUTUBE CHANNEL GROWTH ANALYSIS</a:t>
            </a:r>
            <a:endParaRPr lang="en-IN" dirty="0">
              <a:solidFill>
                <a:srgbClr val="FFC000"/>
              </a:solidFill>
            </a:endParaRPr>
          </a:p>
        </p:txBody>
      </p:sp>
      <p:sp>
        <p:nvSpPr>
          <p:cNvPr id="3" name="Subtitle 2">
            <a:extLst>
              <a:ext uri="{FF2B5EF4-FFF2-40B4-BE49-F238E27FC236}">
                <a16:creationId xmlns:a16="http://schemas.microsoft.com/office/drawing/2014/main" id="{83ECB07F-38C7-A6BD-CF8E-390100E5B9B1}"/>
              </a:ext>
            </a:extLst>
          </p:cNvPr>
          <p:cNvSpPr>
            <a:spLocks noGrp="1"/>
          </p:cNvSpPr>
          <p:nvPr>
            <p:ph type="subTitle" idx="1"/>
          </p:nvPr>
        </p:nvSpPr>
        <p:spPr>
          <a:xfrm>
            <a:off x="3962398" y="4110709"/>
            <a:ext cx="7524109" cy="1464734"/>
          </a:xfrm>
        </p:spPr>
        <p:txBody>
          <a:bodyPr/>
          <a:lstStyle/>
          <a:p>
            <a:pPr algn="r"/>
            <a:r>
              <a:rPr lang="en-IN" dirty="0"/>
              <a:t>presented by</a:t>
            </a:r>
          </a:p>
          <a:p>
            <a:pPr algn="r"/>
            <a:r>
              <a:rPr lang="en-US" dirty="0"/>
              <a:t>I</a:t>
            </a:r>
            <a:r>
              <a:rPr lang="en-IN" dirty="0"/>
              <a:t>SWARYALAKSHMI M</a:t>
            </a:r>
          </a:p>
          <a:p>
            <a:endParaRPr lang="en-IN" dirty="0"/>
          </a:p>
        </p:txBody>
      </p:sp>
    </p:spTree>
    <p:extLst>
      <p:ext uri="{BB962C8B-B14F-4D97-AF65-F5344CB8AC3E}">
        <p14:creationId xmlns:p14="http://schemas.microsoft.com/office/powerpoint/2010/main" val="718839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A290-9D96-C4B8-6F3F-14CF8DD865EF}"/>
              </a:ext>
            </a:extLst>
          </p:cNvPr>
          <p:cNvSpPr>
            <a:spLocks noGrp="1"/>
          </p:cNvSpPr>
          <p:nvPr>
            <p:ph type="title"/>
          </p:nvPr>
        </p:nvSpPr>
        <p:spPr>
          <a:xfrm>
            <a:off x="913795" y="787790"/>
            <a:ext cx="10353762" cy="792259"/>
          </a:xfrm>
        </p:spPr>
        <p:txBody>
          <a:bodyPr>
            <a:normAutofit fontScale="90000"/>
          </a:bodyPr>
          <a:lstStyle/>
          <a:p>
            <a:r>
              <a:rPr lang="en-IN" b="1" dirty="0">
                <a:solidFill>
                  <a:srgbClr val="FFC000"/>
                </a:solidFill>
              </a:rPr>
              <a:t>Introduction</a:t>
            </a:r>
            <a:br>
              <a:rPr lang="en-IN" b="1" dirty="0">
                <a:solidFill>
                  <a:srgbClr val="FFC000"/>
                </a:solidFill>
              </a:rPr>
            </a:br>
            <a:br>
              <a:rPr lang="en-IN" b="1" dirty="0">
                <a:solidFill>
                  <a:srgbClr val="FFC000"/>
                </a:solidFill>
              </a:rPr>
            </a:br>
            <a:endParaRPr lang="en-IN" b="1" dirty="0">
              <a:solidFill>
                <a:srgbClr val="FFC000"/>
              </a:solidFill>
            </a:endParaRPr>
          </a:p>
        </p:txBody>
      </p:sp>
      <p:sp>
        <p:nvSpPr>
          <p:cNvPr id="3" name="Content Placeholder 2">
            <a:extLst>
              <a:ext uri="{FF2B5EF4-FFF2-40B4-BE49-F238E27FC236}">
                <a16:creationId xmlns:a16="http://schemas.microsoft.com/office/drawing/2014/main" id="{1C56EF68-3CBB-796C-6065-6F07D74B2A5B}"/>
              </a:ext>
            </a:extLst>
          </p:cNvPr>
          <p:cNvSpPr>
            <a:spLocks noGrp="1"/>
          </p:cNvSpPr>
          <p:nvPr>
            <p:ph idx="1"/>
          </p:nvPr>
        </p:nvSpPr>
        <p:spPr>
          <a:xfrm>
            <a:off x="685801" y="1617785"/>
            <a:ext cx="10905977" cy="5240215"/>
          </a:xfrm>
        </p:spPr>
        <p:txBody>
          <a:bodyPr>
            <a:noAutofit/>
          </a:bodyPr>
          <a:lstStyle/>
          <a:p>
            <a:pPr algn="just"/>
            <a:r>
              <a:rPr lang="en-US" b="1" dirty="0">
                <a:effectLst/>
              </a:rPr>
              <a:t>In today’s digital era, YouTube is one of the world’s largest online video-sharing platforms, with millions of creators and billions of users globally.</a:t>
            </a:r>
          </a:p>
          <a:p>
            <a:pPr algn="just"/>
            <a:r>
              <a:rPr lang="en-US" b="1" dirty="0">
                <a:effectLst/>
              </a:rPr>
              <a:t>Every day, creators generate massive amounts of data such as views, likes, comments, subscribers, and watch time. This data plays a crucial role in understanding how content performs and how audiences interact with videos.</a:t>
            </a:r>
          </a:p>
          <a:p>
            <a:pPr algn="just"/>
            <a:r>
              <a:rPr lang="en-US" b="1" dirty="0">
                <a:effectLst/>
              </a:rPr>
              <a:t>However, analyzing such large volumes of data manually can be difficult and time-consuming.</a:t>
            </a:r>
          </a:p>
          <a:p>
            <a:pPr algn="just"/>
            <a:r>
              <a:rPr lang="en-US" b="1" dirty="0">
                <a:effectLst/>
              </a:rPr>
              <a:t>Therefore, this project focuses on building an interactive Power BI dashboard to analyze YouTube channel performance. By using data visualization techniques, we can better understand audience engagement, content effectiveness, and overall channel growth trends.</a:t>
            </a:r>
          </a:p>
          <a:p>
            <a:pPr algn="just">
              <a:lnSpc>
                <a:spcPct val="150000"/>
              </a:lnSpc>
            </a:pPr>
            <a:endParaRPr lang="en-IN" b="1" dirty="0"/>
          </a:p>
        </p:txBody>
      </p:sp>
    </p:spTree>
    <p:extLst>
      <p:ext uri="{BB962C8B-B14F-4D97-AF65-F5344CB8AC3E}">
        <p14:creationId xmlns:p14="http://schemas.microsoft.com/office/powerpoint/2010/main" val="340315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B5C07-6E4F-A33B-67FD-3781CB8C72D9}"/>
              </a:ext>
            </a:extLst>
          </p:cNvPr>
          <p:cNvSpPr>
            <a:spLocks noGrp="1"/>
          </p:cNvSpPr>
          <p:nvPr>
            <p:ph type="title"/>
          </p:nvPr>
        </p:nvSpPr>
        <p:spPr>
          <a:xfrm>
            <a:off x="685801" y="609601"/>
            <a:ext cx="10131425" cy="914399"/>
          </a:xfrm>
        </p:spPr>
        <p:txBody>
          <a:bodyPr/>
          <a:lstStyle/>
          <a:p>
            <a:r>
              <a:rPr lang="en-IN" b="1" dirty="0">
                <a:solidFill>
                  <a:srgbClr val="FFC000"/>
                </a:solidFill>
              </a:rPr>
              <a:t>        Problem statement</a:t>
            </a:r>
          </a:p>
        </p:txBody>
      </p:sp>
      <p:sp>
        <p:nvSpPr>
          <p:cNvPr id="4" name="Rectangle 1">
            <a:extLst>
              <a:ext uri="{FF2B5EF4-FFF2-40B4-BE49-F238E27FC236}">
                <a16:creationId xmlns:a16="http://schemas.microsoft.com/office/drawing/2014/main" id="{27D91723-7E5C-BBD5-08E2-9CDEA9A7D55C}"/>
              </a:ext>
            </a:extLst>
          </p:cNvPr>
          <p:cNvSpPr>
            <a:spLocks noGrp="1" noChangeArrowheads="1"/>
          </p:cNvSpPr>
          <p:nvPr>
            <p:ph idx="1"/>
          </p:nvPr>
        </p:nvSpPr>
        <p:spPr bwMode="auto">
          <a:xfrm>
            <a:off x="-1941341" y="1523999"/>
            <a:ext cx="1292821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8" algn="just" defTabSz="914400" eaLnBrk="0" fontAlgn="base" hangingPunct="0">
              <a:lnSpc>
                <a:spcPct val="150000"/>
              </a:lnSpc>
              <a:spcBef>
                <a:spcPct val="0"/>
              </a:spcBef>
              <a:spcAft>
                <a:spcPct val="0"/>
              </a:spcAft>
              <a:buClrTx/>
              <a:buSzTx/>
              <a:buFont typeface="Wingdings" pitchFamily="2" charset="2"/>
              <a:buChar char="v"/>
            </a:pPr>
            <a:r>
              <a:rPr lang="en-US" altLang="en-US" sz="1800" dirty="0">
                <a:ln>
                  <a:noFill/>
                </a:ln>
                <a:solidFill>
                  <a:schemeClr val="tx1"/>
                </a:solidFill>
                <a:effectLst/>
              </a:rPr>
              <a:t> In today’s digital era, YouTube generates a massive amount of data every second, including views, likes, dislikes, comments, subscribers, and watch time. However, manually analyzing this large volume of data is difficult, time-consuming, and inefficient.</a:t>
            </a:r>
          </a:p>
          <a:p>
            <a:pPr lvl="8" algn="just" defTabSz="914400" eaLnBrk="0" fontAlgn="base" hangingPunct="0">
              <a:lnSpc>
                <a:spcPct val="150000"/>
              </a:lnSpc>
              <a:spcBef>
                <a:spcPct val="0"/>
              </a:spcBef>
              <a:spcAft>
                <a:spcPct val="0"/>
              </a:spcAft>
              <a:buClrTx/>
              <a:buSzTx/>
              <a:buFont typeface="Wingdings" pitchFamily="2" charset="2"/>
              <a:buChar char="v"/>
            </a:pPr>
            <a:r>
              <a:rPr lang="en-US" altLang="en-US" sz="1800" dirty="0">
                <a:ln>
                  <a:noFill/>
                </a:ln>
                <a:solidFill>
                  <a:schemeClr val="tx1"/>
                </a:solidFill>
                <a:effectLst/>
              </a:rPr>
              <a:t> Without proper data visualization tools, it becomes challenging to track channel growth over time, measure audience engagement, compare video performance, identify trends and patterns, and make data-driven content decisions.</a:t>
            </a:r>
          </a:p>
          <a:p>
            <a:pPr lvl="8" algn="just" defTabSz="914400" eaLnBrk="0" fontAlgn="base" hangingPunct="0">
              <a:lnSpc>
                <a:spcPct val="150000"/>
              </a:lnSpc>
              <a:spcBef>
                <a:spcPct val="0"/>
              </a:spcBef>
              <a:spcAft>
                <a:spcPct val="0"/>
              </a:spcAft>
              <a:buClrTx/>
              <a:buSzTx/>
              <a:buFont typeface="Wingdings" pitchFamily="2" charset="2"/>
              <a:buChar char="v"/>
            </a:pPr>
            <a:r>
              <a:rPr lang="en-US" altLang="en-US" sz="1800" dirty="0">
                <a:ln>
                  <a:noFill/>
                </a:ln>
                <a:solidFill>
                  <a:schemeClr val="tx1"/>
                </a:solidFill>
                <a:effectLst/>
              </a:rPr>
              <a:t> As a result, content creators and analysts may struggle to understand which videos perform well and how to improve their overall channel strategy.</a:t>
            </a:r>
          </a:p>
          <a:p>
            <a:pPr lvl="8" algn="just" defTabSz="914400" eaLnBrk="0" fontAlgn="base" hangingPunct="0">
              <a:lnSpc>
                <a:spcPct val="150000"/>
              </a:lnSpc>
              <a:spcBef>
                <a:spcPct val="0"/>
              </a:spcBef>
              <a:spcAft>
                <a:spcPct val="0"/>
              </a:spcAft>
              <a:buClrTx/>
              <a:buSzTx/>
              <a:buFont typeface="Wingdings" pitchFamily="2" charset="2"/>
              <a:buChar char="v"/>
            </a:pPr>
            <a:r>
              <a:rPr lang="en-US" altLang="en-US" sz="1800" dirty="0">
                <a:ln>
                  <a:noFill/>
                </a:ln>
                <a:solidFill>
                  <a:schemeClr val="tx1"/>
                </a:solidFill>
                <a:effectLst/>
              </a:rPr>
              <a:t> This project aims to solve this problem by developing an interactive dashboard using Power BI that transforms raw YouTube data into meaningful visual insights for effective analysis and decision-making.</a:t>
            </a:r>
          </a:p>
          <a:p>
            <a:pPr lvl="8" algn="just" defTabSz="914400" eaLnBrk="0" fontAlgn="base" hangingPunct="0">
              <a:lnSpc>
                <a:spcPct val="150000"/>
              </a:lnSpc>
              <a:spcBef>
                <a:spcPct val="0"/>
              </a:spcBef>
              <a:spcAft>
                <a:spcPct val="0"/>
              </a:spcAft>
              <a:buClrTx/>
              <a:buSzTx/>
              <a:buNone/>
            </a:pPr>
            <a:endParaRPr lang="en-US" altLang="en-US" sz="1800" dirty="0">
              <a:ln>
                <a:noFill/>
              </a:ln>
              <a:solidFill>
                <a:schemeClr val="tx1"/>
              </a:solidFill>
              <a:effectLst/>
            </a:endParaRPr>
          </a:p>
          <a:p>
            <a:pPr lvl="8" algn="just" defTabSz="914400" eaLnBrk="0" fontAlgn="base" hangingPunct="0">
              <a:lnSpc>
                <a:spcPct val="150000"/>
              </a:lnSpc>
              <a:spcBef>
                <a:spcPct val="0"/>
              </a:spcBef>
              <a:spcAft>
                <a:spcPct val="0"/>
              </a:spcAft>
              <a:buClrTx/>
              <a:buSzTx/>
              <a:buNone/>
            </a:pPr>
            <a:endParaRPr kumimoji="0" lang="en-US" altLang="en-US" sz="18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52999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469" y="436099"/>
            <a:ext cx="10395360" cy="1041009"/>
          </a:xfrm>
        </p:spPr>
        <p:txBody>
          <a:bodyPr>
            <a:normAutofit fontScale="90000"/>
          </a:bodyPr>
          <a:lstStyle/>
          <a:p>
            <a:r>
              <a:rPr lang="en-IN" b="1" dirty="0">
                <a:solidFill>
                  <a:srgbClr val="FFC000"/>
                </a:solidFill>
              </a:rPr>
              <a:t>Business Problem</a:t>
            </a:r>
            <a:br>
              <a:rPr lang="en-IN" b="1" dirty="0">
                <a:solidFill>
                  <a:srgbClr val="FFC000"/>
                </a:solidFill>
              </a:rPr>
            </a:br>
            <a:br>
              <a:rPr lang="en-IN" b="1" dirty="0">
                <a:solidFill>
                  <a:srgbClr val="FFC000"/>
                </a:solidFill>
              </a:rPr>
            </a:br>
            <a:endParaRPr lang="en-US" dirty="0"/>
          </a:p>
        </p:txBody>
      </p:sp>
      <p:sp>
        <p:nvSpPr>
          <p:cNvPr id="3" name="Content Placeholder 2"/>
          <p:cNvSpPr>
            <a:spLocks noGrp="1"/>
          </p:cNvSpPr>
          <p:nvPr>
            <p:ph idx="1"/>
          </p:nvPr>
        </p:nvSpPr>
        <p:spPr>
          <a:xfrm>
            <a:off x="913795" y="1181687"/>
            <a:ext cx="10353762" cy="4609514"/>
          </a:xfrm>
        </p:spPr>
        <p:txBody>
          <a:bodyPr>
            <a:normAutofit/>
          </a:bodyPr>
          <a:lstStyle/>
          <a:p>
            <a:pPr marL="494100" indent="-457200">
              <a:buAutoNum type="arabicParenR"/>
            </a:pPr>
            <a:r>
              <a:rPr lang="en-US" sz="2400" b="1" dirty="0"/>
              <a:t>What is the monthly trend of total YouTube views?</a:t>
            </a:r>
          </a:p>
          <a:p>
            <a:pPr marL="494100" indent="-457200">
              <a:buFont typeface="Wingdings 2" charset="2"/>
              <a:buAutoNum type="arabicParenR"/>
            </a:pPr>
            <a:r>
              <a:rPr lang="en-US" sz="2400" b="1" dirty="0"/>
              <a:t>Identify the top-performing channels based on cumulative view count?</a:t>
            </a:r>
          </a:p>
          <a:p>
            <a:pPr marL="494100" indent="-457200">
              <a:buFont typeface="Wingdings 2" charset="2"/>
              <a:buAutoNum type="arabicParenR"/>
            </a:pPr>
            <a:r>
              <a:rPr lang="en-US" sz="2400" b="1" dirty="0"/>
              <a:t>How are total likes distributed across different months?</a:t>
            </a:r>
          </a:p>
          <a:p>
            <a:pPr marL="494100" indent="-457200">
              <a:buFont typeface="Wingdings 2" charset="2"/>
              <a:buAutoNum type="arabicParenR"/>
            </a:pPr>
            <a:r>
              <a:rPr lang="en-US" sz="2400" b="1" dirty="0"/>
              <a:t>What are the top 5 channels based on total views?</a:t>
            </a:r>
          </a:p>
          <a:p>
            <a:pPr marL="494100" indent="-457200">
              <a:buFont typeface="Wingdings 2" charset="2"/>
              <a:buAutoNum type="arabicParenR"/>
            </a:pPr>
            <a:r>
              <a:rPr lang="en-US" sz="2400" b="1" dirty="0"/>
              <a:t>Which channels have the highest and lowest total likes, and what is their approximate count?</a:t>
            </a:r>
          </a:p>
          <a:p>
            <a:pPr marL="494100" indent="-457200">
              <a:buFont typeface="Wingdings 2" charset="2"/>
              <a:buAutoNum type="arabicParenR"/>
            </a:pPr>
            <a:r>
              <a:rPr lang="en-US" sz="2400" b="1" dirty="0"/>
              <a:t>What is the approximate number of comments for the most active channel?</a:t>
            </a:r>
          </a:p>
          <a:p>
            <a:pPr marL="494100" indent="-457200">
              <a:buAutoNum type="arabicParenR"/>
            </a:pPr>
            <a:r>
              <a:rPr lang="en-US" sz="2400" b="1" dirty="0"/>
              <a:t>Which channel has the highest total comments?</a:t>
            </a:r>
          </a:p>
          <a:p>
            <a:pPr marL="494100" indent="-457200">
              <a:buAutoNum type="arabicParenR"/>
            </a:pPr>
            <a:endParaRPr lang="en-US" sz="2400" b="1" dirty="0"/>
          </a:p>
          <a:p>
            <a:endParaRPr 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55C9-BA25-8016-975A-36933EB7C3E8}"/>
              </a:ext>
            </a:extLst>
          </p:cNvPr>
          <p:cNvSpPr>
            <a:spLocks noGrp="1"/>
          </p:cNvSpPr>
          <p:nvPr>
            <p:ph type="title"/>
          </p:nvPr>
        </p:nvSpPr>
        <p:spPr>
          <a:xfrm>
            <a:off x="685801" y="672695"/>
            <a:ext cx="10131425" cy="831639"/>
          </a:xfrm>
        </p:spPr>
        <p:txBody>
          <a:bodyPr/>
          <a:lstStyle/>
          <a:p>
            <a:r>
              <a:rPr lang="en-IN" b="1" dirty="0">
                <a:solidFill>
                  <a:srgbClr val="FFC000"/>
                </a:solidFill>
              </a:rPr>
              <a:t>Data overview</a:t>
            </a:r>
          </a:p>
        </p:txBody>
      </p:sp>
      <p:sp>
        <p:nvSpPr>
          <p:cNvPr id="4" name="Rectangle 1">
            <a:extLst>
              <a:ext uri="{FF2B5EF4-FFF2-40B4-BE49-F238E27FC236}">
                <a16:creationId xmlns:a16="http://schemas.microsoft.com/office/drawing/2014/main" id="{53826F14-4C82-4F88-3BB9-466E413131BB}"/>
              </a:ext>
            </a:extLst>
          </p:cNvPr>
          <p:cNvSpPr>
            <a:spLocks noGrp="1" noChangeArrowheads="1"/>
          </p:cNvSpPr>
          <p:nvPr>
            <p:ph idx="1"/>
          </p:nvPr>
        </p:nvSpPr>
        <p:spPr bwMode="auto">
          <a:xfrm>
            <a:off x="685801" y="1598507"/>
            <a:ext cx="8835271"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Channel Id</a:t>
            </a:r>
          </a:p>
          <a:p>
            <a:r>
              <a:rPr lang="en-US" b="1" dirty="0"/>
              <a:t>Channel Title</a:t>
            </a:r>
          </a:p>
          <a:p>
            <a:r>
              <a:rPr lang="en-US" b="1" dirty="0"/>
              <a:t>Comment Count</a:t>
            </a:r>
          </a:p>
          <a:p>
            <a:r>
              <a:rPr lang="en-US" b="1" dirty="0"/>
              <a:t>Comments</a:t>
            </a:r>
          </a:p>
          <a:p>
            <a:r>
              <a:rPr lang="en-US" b="1" dirty="0"/>
              <a:t>Day</a:t>
            </a:r>
          </a:p>
          <a:p>
            <a:r>
              <a:rPr lang="en-US" b="1" dirty="0"/>
              <a:t>Description</a:t>
            </a:r>
          </a:p>
          <a:p>
            <a:r>
              <a:rPr lang="en-US" b="1" dirty="0"/>
              <a:t>Dislikes</a:t>
            </a:r>
          </a:p>
          <a:p>
            <a:r>
              <a:rPr lang="en-US" b="1" dirty="0"/>
              <a:t>Hour</a:t>
            </a:r>
          </a:p>
          <a:p>
            <a:r>
              <a:rPr lang="en-US" b="1" dirty="0"/>
              <a:t>Likes</a:t>
            </a:r>
          </a:p>
          <a:p>
            <a:r>
              <a:rPr lang="en-US" b="1" dirty="0"/>
              <a:t>Video Id</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93276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4BCF-35F3-ECC5-0AA7-9412F817C0B3}"/>
              </a:ext>
            </a:extLst>
          </p:cNvPr>
          <p:cNvSpPr>
            <a:spLocks noGrp="1"/>
          </p:cNvSpPr>
          <p:nvPr>
            <p:ph type="title"/>
          </p:nvPr>
        </p:nvSpPr>
        <p:spPr>
          <a:xfrm>
            <a:off x="685801" y="78659"/>
            <a:ext cx="10131425" cy="668594"/>
          </a:xfrm>
        </p:spPr>
        <p:txBody>
          <a:bodyPr>
            <a:normAutofit fontScale="90000"/>
          </a:bodyPr>
          <a:lstStyle/>
          <a:p>
            <a:r>
              <a:rPr lang="en-IN" b="1" dirty="0">
                <a:solidFill>
                  <a:srgbClr val="FFC000"/>
                </a:solidFill>
              </a:rPr>
              <a:t>Technology used</a:t>
            </a:r>
          </a:p>
        </p:txBody>
      </p:sp>
      <p:sp>
        <p:nvSpPr>
          <p:cNvPr id="4" name="TextBox 3">
            <a:extLst>
              <a:ext uri="{FF2B5EF4-FFF2-40B4-BE49-F238E27FC236}">
                <a16:creationId xmlns:a16="http://schemas.microsoft.com/office/drawing/2014/main" id="{3E2183DE-6208-8DFD-522C-225738EA728A}"/>
              </a:ext>
            </a:extLst>
          </p:cNvPr>
          <p:cNvSpPr txBox="1"/>
          <p:nvPr/>
        </p:nvSpPr>
        <p:spPr>
          <a:xfrm>
            <a:off x="511278" y="157316"/>
            <a:ext cx="9193161" cy="6324808"/>
          </a:xfrm>
          <a:prstGeom prst="rect">
            <a:avLst/>
          </a:prstGeom>
          <a:noFill/>
        </p:spPr>
        <p:txBody>
          <a:bodyPr wrap="square">
            <a:spAutoFit/>
          </a:bodyPr>
          <a:lstStyle/>
          <a:p>
            <a:pPr>
              <a:lnSpc>
                <a:spcPct val="150000"/>
              </a:lnSpc>
              <a:buNone/>
            </a:pPr>
            <a:endParaRPr lang="en-US" b="1" dirty="0"/>
          </a:p>
          <a:p>
            <a:pPr>
              <a:lnSpc>
                <a:spcPct val="150000"/>
              </a:lnSpc>
              <a:buFont typeface="+mj-lt"/>
              <a:buAutoNum type="arabicPeriod"/>
            </a:pPr>
            <a:r>
              <a:rPr lang="en-US" b="1" dirty="0"/>
              <a:t>Data Source:</a:t>
            </a:r>
            <a:endParaRPr lang="en-US" dirty="0"/>
          </a:p>
          <a:p>
            <a:pPr marL="742950" lvl="1" indent="-285750">
              <a:lnSpc>
                <a:spcPct val="150000"/>
              </a:lnSpc>
              <a:buFont typeface="+mj-lt"/>
              <a:buAutoNum type="arabicPeriod"/>
            </a:pPr>
            <a:r>
              <a:rPr lang="en-US" dirty="0"/>
              <a:t>Youtube Dislike Dataset (Excel file)</a:t>
            </a:r>
          </a:p>
          <a:p>
            <a:pPr>
              <a:lnSpc>
                <a:spcPct val="150000"/>
              </a:lnSpc>
              <a:buFont typeface="+mj-lt"/>
              <a:buAutoNum type="arabicPeriod"/>
            </a:pPr>
            <a:r>
              <a:rPr lang="en-US" b="1" dirty="0"/>
              <a:t>Data Preparation &amp; Transformation (ETL):</a:t>
            </a:r>
            <a:endParaRPr lang="en-US" dirty="0"/>
          </a:p>
          <a:p>
            <a:pPr marL="742950" lvl="1" indent="-285750">
              <a:lnSpc>
                <a:spcPct val="150000"/>
              </a:lnSpc>
              <a:buFont typeface="+mj-lt"/>
              <a:buAutoNum type="arabicPeriod"/>
            </a:pPr>
            <a:r>
              <a:rPr lang="en-US" b="1" dirty="0"/>
              <a:t>Power Query:</a:t>
            </a:r>
            <a:r>
              <a:rPr lang="en-US" dirty="0"/>
              <a:t> To clean, transform, and structure data</a:t>
            </a:r>
          </a:p>
          <a:p>
            <a:pPr marL="742950" lvl="1" indent="-285750">
              <a:lnSpc>
                <a:spcPct val="150000"/>
              </a:lnSpc>
              <a:buFont typeface="+mj-lt"/>
              <a:buAutoNum type="arabicPeriod"/>
            </a:pPr>
            <a:r>
              <a:rPr lang="en-US" b="1" dirty="0"/>
              <a:t>Data Modeling:</a:t>
            </a:r>
            <a:r>
              <a:rPr lang="en-US" dirty="0"/>
              <a:t> Creating tables Date table, Likes and Dislike, Video ID, and Youtube table linking relationship.</a:t>
            </a:r>
          </a:p>
          <a:p>
            <a:pPr>
              <a:lnSpc>
                <a:spcPct val="150000"/>
              </a:lnSpc>
              <a:buFont typeface="+mj-lt"/>
              <a:buAutoNum type="arabicPeriod"/>
            </a:pPr>
            <a:r>
              <a:rPr lang="en-US" b="1" dirty="0"/>
              <a:t>Data Analysis &amp; Visualization:</a:t>
            </a:r>
            <a:endParaRPr lang="en-US" dirty="0"/>
          </a:p>
          <a:p>
            <a:pPr marL="742950" lvl="1" indent="-285750">
              <a:lnSpc>
                <a:spcPct val="150000"/>
              </a:lnSpc>
              <a:buFont typeface="+mj-lt"/>
              <a:buAutoNum type="arabicPeriod"/>
            </a:pPr>
            <a:r>
              <a:rPr lang="en-US" b="1" dirty="0"/>
              <a:t>Power BI :</a:t>
            </a:r>
            <a:endParaRPr lang="en-US" dirty="0"/>
          </a:p>
          <a:p>
            <a:pPr marL="1143000" lvl="2" indent="-228600">
              <a:lnSpc>
                <a:spcPct val="150000"/>
              </a:lnSpc>
              <a:buFont typeface="+mj-lt"/>
              <a:buAutoNum type="arabicPeriod"/>
            </a:pPr>
            <a:r>
              <a:rPr lang="en-US" dirty="0"/>
              <a:t>Charts: Area chart, Bar chart, Column chart, Pie chart, Donut chart.</a:t>
            </a:r>
          </a:p>
          <a:p>
            <a:pPr marL="1143000" lvl="2" indent="-228600">
              <a:lnSpc>
                <a:spcPct val="150000"/>
              </a:lnSpc>
              <a:buFont typeface="+mj-lt"/>
              <a:buAutoNum type="arabicPeriod"/>
            </a:pPr>
            <a:r>
              <a:rPr lang="en-US" dirty="0"/>
              <a:t>Measures using DAX.</a:t>
            </a:r>
          </a:p>
          <a:p>
            <a:pPr>
              <a:lnSpc>
                <a:spcPct val="150000"/>
              </a:lnSpc>
              <a:buFont typeface="+mj-lt"/>
              <a:buAutoNum type="arabicPeriod"/>
            </a:pPr>
            <a:r>
              <a:rPr lang="en-US" b="1" dirty="0"/>
              <a:t>Data Insights &amp; Reporting:</a:t>
            </a:r>
            <a:endParaRPr lang="en-US" dirty="0"/>
          </a:p>
          <a:p>
            <a:pPr marL="742950" lvl="1" indent="-285750">
              <a:lnSpc>
                <a:spcPct val="150000"/>
              </a:lnSpc>
              <a:buFont typeface="+mj-lt"/>
              <a:buAutoNum type="arabicPeriod"/>
            </a:pPr>
            <a:r>
              <a:rPr lang="en-US" b="1" dirty="0"/>
              <a:t>Power BI Dashboard:</a:t>
            </a:r>
            <a:r>
              <a:rPr lang="en-US" dirty="0"/>
              <a:t> Interactive visualizations for executives</a:t>
            </a:r>
          </a:p>
          <a:p>
            <a:pPr marL="742950" lvl="1" indent="-285750">
              <a:lnSpc>
                <a:spcPct val="150000"/>
              </a:lnSpc>
              <a:buFont typeface="+mj-lt"/>
              <a:buAutoNum type="arabicPeriod"/>
            </a:pPr>
            <a:r>
              <a:rPr lang="en-US" b="1" dirty="0"/>
              <a:t>Filters &amp; Slicers:</a:t>
            </a:r>
            <a:r>
              <a:rPr lang="en-US" dirty="0"/>
              <a:t> To analyze performance trends over time and compare growth across different months and years</a:t>
            </a:r>
          </a:p>
        </p:txBody>
      </p:sp>
    </p:spTree>
    <p:extLst>
      <p:ext uri="{BB962C8B-B14F-4D97-AF65-F5344CB8AC3E}">
        <p14:creationId xmlns:p14="http://schemas.microsoft.com/office/powerpoint/2010/main" val="2249997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4B7B-4BA2-73C2-5480-F9414493868A}"/>
              </a:ext>
            </a:extLst>
          </p:cNvPr>
          <p:cNvSpPr>
            <a:spLocks noGrp="1"/>
          </p:cNvSpPr>
          <p:nvPr>
            <p:ph type="title"/>
          </p:nvPr>
        </p:nvSpPr>
        <p:spPr>
          <a:xfrm>
            <a:off x="685801" y="206478"/>
            <a:ext cx="10131425" cy="914399"/>
          </a:xfrm>
        </p:spPr>
        <p:txBody>
          <a:bodyPr/>
          <a:lstStyle/>
          <a:p>
            <a:r>
              <a:rPr lang="en-IN" b="1" dirty="0">
                <a:solidFill>
                  <a:srgbClr val="FFC000"/>
                </a:solidFill>
                <a:latin typeface="Calibri heading"/>
              </a:rPr>
              <a:t>Data </a:t>
            </a:r>
            <a:r>
              <a:rPr lang="en-IN" b="1" dirty="0" err="1">
                <a:solidFill>
                  <a:srgbClr val="FFC000"/>
                </a:solidFill>
                <a:latin typeface="Calibri heading"/>
              </a:rPr>
              <a:t>Preprocessing</a:t>
            </a:r>
            <a:endParaRPr lang="en-IN" b="1" dirty="0">
              <a:solidFill>
                <a:srgbClr val="FFC000"/>
              </a:solidFill>
              <a:latin typeface="Calibri heading"/>
            </a:endParaRPr>
          </a:p>
        </p:txBody>
      </p:sp>
      <p:sp>
        <p:nvSpPr>
          <p:cNvPr id="3" name="Content Placeholder 2">
            <a:extLst>
              <a:ext uri="{FF2B5EF4-FFF2-40B4-BE49-F238E27FC236}">
                <a16:creationId xmlns:a16="http://schemas.microsoft.com/office/drawing/2014/main" id="{76321334-9A6D-3B2B-6AF9-B38864536ED5}"/>
              </a:ext>
            </a:extLst>
          </p:cNvPr>
          <p:cNvSpPr>
            <a:spLocks noGrp="1"/>
          </p:cNvSpPr>
          <p:nvPr>
            <p:ph idx="1"/>
          </p:nvPr>
        </p:nvSpPr>
        <p:spPr>
          <a:xfrm>
            <a:off x="742072" y="1332271"/>
            <a:ext cx="11074790" cy="6025132"/>
          </a:xfrm>
        </p:spPr>
        <p:txBody>
          <a:bodyPr>
            <a:normAutofit fontScale="70000" lnSpcReduction="20000"/>
          </a:bodyPr>
          <a:lstStyle/>
          <a:p>
            <a:pPr>
              <a:lnSpc>
                <a:spcPct val="150000"/>
              </a:lnSpc>
            </a:pPr>
            <a:r>
              <a:rPr lang="en-IN" sz="2600" b="1" dirty="0">
                <a:solidFill>
                  <a:schemeClr val="tx1"/>
                </a:solidFill>
                <a:effectLst/>
                <a:latin typeface="+mj-lt"/>
              </a:rPr>
              <a:t>The Best Tool For Cleaning And Preprocessing The Data Is Called As Power Query Editor.</a:t>
            </a:r>
          </a:p>
          <a:p>
            <a:pPr>
              <a:lnSpc>
                <a:spcPct val="150000"/>
              </a:lnSpc>
            </a:pPr>
            <a:r>
              <a:rPr lang="en-IN" sz="2600" b="1" dirty="0">
                <a:solidFill>
                  <a:schemeClr val="tx1"/>
                </a:solidFill>
                <a:effectLst/>
                <a:latin typeface="+mj-lt"/>
              </a:rPr>
              <a:t>It Is Used For Extracting The Data, Transforming The Data And Loading Into Power Bi.</a:t>
            </a:r>
          </a:p>
          <a:p>
            <a:pPr marL="0" indent="0">
              <a:lnSpc>
                <a:spcPct val="150000"/>
              </a:lnSpc>
              <a:buNone/>
            </a:pPr>
            <a:r>
              <a:rPr lang="en-US" altLang="en-US" sz="2000" b="1" dirty="0">
                <a:solidFill>
                  <a:srgbClr val="FFC000"/>
                </a:solidFill>
                <a:effectLst/>
                <a:latin typeface="+mj-lt"/>
              </a:rPr>
              <a:t>Data Cleaning steps :</a:t>
            </a:r>
          </a:p>
          <a:p>
            <a:pPr marL="0" indent="0">
              <a:lnSpc>
                <a:spcPct val="150000"/>
              </a:lnSpc>
              <a:buNone/>
            </a:pPr>
            <a:r>
              <a:rPr lang="en-US" altLang="en-US" sz="2600" b="1" dirty="0">
                <a:solidFill>
                  <a:schemeClr val="tx1"/>
                </a:solidFill>
                <a:effectLst/>
                <a:latin typeface="+mj-lt"/>
              </a:rPr>
              <a:t>1.Assign Date type for date columns.</a:t>
            </a:r>
          </a:p>
          <a:p>
            <a:pPr marL="457200" indent="-457200" algn="just">
              <a:lnSpc>
                <a:spcPct val="150000"/>
              </a:lnSpc>
              <a:buFont typeface="Wingdings" pitchFamily="2" charset="2"/>
              <a:buChar char="Ø"/>
            </a:pPr>
            <a:r>
              <a:rPr lang="en-US" altLang="en-US" sz="2600" b="1" dirty="0">
                <a:solidFill>
                  <a:schemeClr val="tx1"/>
                </a:solidFill>
                <a:effectLst/>
                <a:latin typeface="+mj-lt"/>
              </a:rPr>
              <a:t>   Set Whole Number type for likes and dislikes</a:t>
            </a:r>
          </a:p>
          <a:p>
            <a:pPr marL="457200" indent="-457200" algn="just">
              <a:lnSpc>
                <a:spcPct val="150000"/>
              </a:lnSpc>
              <a:buFont typeface="Wingdings" pitchFamily="2" charset="2"/>
              <a:buChar char="Ø"/>
            </a:pPr>
            <a:r>
              <a:rPr lang="en-US" altLang="en-US" sz="2600" b="1" dirty="0">
                <a:solidFill>
                  <a:schemeClr val="tx1"/>
                </a:solidFill>
                <a:effectLst/>
                <a:latin typeface="+mj-lt"/>
              </a:rPr>
              <a:t>   Use Text type for channel title columns.</a:t>
            </a:r>
          </a:p>
          <a:p>
            <a:pPr marL="0" indent="0">
              <a:lnSpc>
                <a:spcPct val="150000"/>
              </a:lnSpc>
              <a:buNone/>
            </a:pPr>
            <a:r>
              <a:rPr lang="en-US" altLang="en-US" sz="2600" b="1" dirty="0">
                <a:solidFill>
                  <a:schemeClr val="tx1"/>
                </a:solidFill>
                <a:effectLst/>
                <a:latin typeface="+mj-lt"/>
              </a:rPr>
              <a:t>2. Ensures accurate calculations and proper analysis..</a:t>
            </a:r>
          </a:p>
          <a:p>
            <a:pPr marL="0" indent="0">
              <a:lnSpc>
                <a:spcPct val="150000"/>
              </a:lnSpc>
              <a:buNone/>
            </a:pPr>
            <a:r>
              <a:rPr lang="en-US" altLang="en-US" sz="2600" b="1" dirty="0">
                <a:solidFill>
                  <a:schemeClr val="tx1"/>
                </a:solidFill>
                <a:effectLst/>
                <a:latin typeface="+mj-lt"/>
              </a:rPr>
              <a:t>3. Append the two  year(2020,2021) data into one using append queries.</a:t>
            </a:r>
          </a:p>
          <a:p>
            <a:pPr marL="457200" indent="-457200">
              <a:lnSpc>
                <a:spcPct val="150000"/>
              </a:lnSpc>
              <a:buNone/>
            </a:pPr>
            <a:r>
              <a:rPr lang="en-US" altLang="en-US" sz="2600" b="1" dirty="0">
                <a:solidFill>
                  <a:schemeClr val="tx1"/>
                </a:solidFill>
                <a:effectLst/>
                <a:latin typeface="+mj-lt"/>
              </a:rPr>
              <a:t>4. Extract month, month name, hour, day and year from Date Table.</a:t>
            </a:r>
          </a:p>
          <a:p>
            <a:pPr marL="457200" indent="-457200">
              <a:lnSpc>
                <a:spcPct val="150000"/>
              </a:lnSpc>
              <a:buNone/>
            </a:pPr>
            <a:r>
              <a:rPr lang="en-US" altLang="en-US" sz="2600" b="1" dirty="0">
                <a:solidFill>
                  <a:schemeClr val="tx1"/>
                </a:solidFill>
                <a:effectLst/>
                <a:latin typeface="+mj-lt"/>
              </a:rPr>
              <a:t>5. Managing empty data by replacing, filling, or removing it to maintain accuracy. </a:t>
            </a:r>
          </a:p>
          <a:p>
            <a:pPr marL="457200" indent="-457200">
              <a:lnSpc>
                <a:spcPct val="150000"/>
              </a:lnSpc>
              <a:buNone/>
            </a:pPr>
            <a:r>
              <a:rPr lang="en-US" altLang="en-US" sz="2600" b="1" dirty="0">
                <a:solidFill>
                  <a:schemeClr val="tx1"/>
                </a:solidFill>
                <a:effectLst/>
                <a:latin typeface="+mj-lt"/>
              </a:rPr>
              <a:t>6. Removing the duplicate values.</a:t>
            </a:r>
          </a:p>
          <a:p>
            <a:pPr marL="0" indent="0">
              <a:lnSpc>
                <a:spcPct val="150000"/>
              </a:lnSpc>
              <a:buNone/>
            </a:pPr>
            <a:r>
              <a:rPr lang="en-IN" sz="2600" b="1" dirty="0">
                <a:solidFill>
                  <a:schemeClr val="tx1"/>
                </a:solidFill>
                <a:effectLst/>
                <a:latin typeface="+mj-lt"/>
              </a:rPr>
              <a:t> </a:t>
            </a:r>
          </a:p>
        </p:txBody>
      </p:sp>
    </p:spTree>
    <p:extLst>
      <p:ext uri="{BB962C8B-B14F-4D97-AF65-F5344CB8AC3E}">
        <p14:creationId xmlns:p14="http://schemas.microsoft.com/office/powerpoint/2010/main" val="1652833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8EB8-3DB9-CDB0-96B6-C48AD974ED32}"/>
              </a:ext>
            </a:extLst>
          </p:cNvPr>
          <p:cNvSpPr>
            <a:spLocks noGrp="1"/>
          </p:cNvSpPr>
          <p:nvPr>
            <p:ph type="title"/>
          </p:nvPr>
        </p:nvSpPr>
        <p:spPr>
          <a:xfrm>
            <a:off x="685801" y="589935"/>
            <a:ext cx="6521244" cy="914400"/>
          </a:xfrm>
        </p:spPr>
        <p:txBody>
          <a:bodyPr>
            <a:normAutofit/>
          </a:bodyPr>
          <a:lstStyle/>
          <a:p>
            <a:r>
              <a:rPr lang="en-IN" b="1" dirty="0">
                <a:solidFill>
                  <a:srgbClr val="FFC000"/>
                </a:solidFill>
              </a:rPr>
              <a:t>Key Metrics and kPI’ s</a:t>
            </a:r>
          </a:p>
        </p:txBody>
      </p:sp>
      <p:sp>
        <p:nvSpPr>
          <p:cNvPr id="10" name="Content Placeholder 9">
            <a:extLst>
              <a:ext uri="{FF2B5EF4-FFF2-40B4-BE49-F238E27FC236}">
                <a16:creationId xmlns:a16="http://schemas.microsoft.com/office/drawing/2014/main" id="{38C27251-E0F3-8134-754E-863D99F8D679}"/>
              </a:ext>
            </a:extLst>
          </p:cNvPr>
          <p:cNvSpPr>
            <a:spLocks noGrp="1"/>
          </p:cNvSpPr>
          <p:nvPr>
            <p:ph idx="1"/>
          </p:nvPr>
        </p:nvSpPr>
        <p:spPr>
          <a:xfrm>
            <a:off x="615463" y="1617785"/>
            <a:ext cx="10694962" cy="2522894"/>
          </a:xfrm>
        </p:spPr>
        <p:txBody>
          <a:bodyPr>
            <a:noAutofit/>
          </a:bodyPr>
          <a:lstStyle/>
          <a:p>
            <a:pPr marL="0" indent="0" algn="just">
              <a:buNone/>
            </a:pPr>
            <a:endParaRPr lang="en-US" dirty="0">
              <a:latin typeface="+mj-lt"/>
            </a:endParaRPr>
          </a:p>
          <a:p>
            <a:pPr marL="0" indent="0" algn="just">
              <a:buNone/>
            </a:pPr>
            <a:r>
              <a:rPr lang="en-US" dirty="0">
                <a:latin typeface="+mj-lt"/>
              </a:rPr>
              <a:t>These KPIs give a quick snapshot of business performance </a:t>
            </a:r>
          </a:p>
          <a:p>
            <a:pPr algn="just"/>
            <a:r>
              <a:rPr lang="en-US" dirty="0">
                <a:latin typeface="+mj-lt"/>
              </a:rPr>
              <a:t>Total Likes: It refers to the total number of positive reactions received across all videos, indicating audience engagement and content effectiveness. </a:t>
            </a:r>
          </a:p>
          <a:p>
            <a:pPr algn="just"/>
            <a:r>
              <a:rPr lang="en-US" dirty="0">
                <a:latin typeface="+mj-lt"/>
              </a:rPr>
              <a:t>Total Dislikes: It refers to the total number of negative reactions received across all videos in the dataset.</a:t>
            </a:r>
          </a:p>
          <a:p>
            <a:pPr algn="just"/>
            <a:r>
              <a:rPr lang="en-US" dirty="0">
                <a:latin typeface="+mj-lt"/>
              </a:rPr>
              <a:t>Total Views: It refers to the total number of times all videos have been watched in the dataset.</a:t>
            </a:r>
          </a:p>
          <a:p>
            <a:pPr algn="just"/>
            <a:r>
              <a:rPr lang="en-US" dirty="0">
                <a:latin typeface="+mj-lt"/>
              </a:rPr>
              <a:t>Total Channels: It refers to the total number of different YouTube channels in the dataset.</a:t>
            </a:r>
          </a:p>
          <a:p>
            <a:pPr marL="0" indent="0" algn="just">
              <a:buNone/>
            </a:pPr>
            <a:endParaRPr lang="en-IN" dirty="0">
              <a:latin typeface="+mj-lt"/>
            </a:endParaRPr>
          </a:p>
        </p:txBody>
      </p:sp>
      <p:pic>
        <p:nvPicPr>
          <p:cNvPr id="16385" name="Picture 1"/>
          <p:cNvPicPr>
            <a:picLocks noChangeAspect="1" noChangeArrowheads="1"/>
          </p:cNvPicPr>
          <p:nvPr/>
        </p:nvPicPr>
        <p:blipFill>
          <a:blip r:embed="rId2"/>
          <a:srcRect/>
          <a:stretch>
            <a:fillRect/>
          </a:stretch>
        </p:blipFill>
        <p:spPr bwMode="auto">
          <a:xfrm>
            <a:off x="5975839" y="4951828"/>
            <a:ext cx="2788334" cy="1718091"/>
          </a:xfrm>
          <a:prstGeom prst="rect">
            <a:avLst/>
          </a:prstGeom>
          <a:noFill/>
          <a:ln w="9525">
            <a:noFill/>
            <a:miter lim="800000"/>
            <a:headEnd/>
            <a:tailEnd/>
          </a:ln>
          <a:effectLst/>
        </p:spPr>
      </p:pic>
      <p:pic>
        <p:nvPicPr>
          <p:cNvPr id="16387" name="Picture 3"/>
          <p:cNvPicPr>
            <a:picLocks noChangeAspect="1" noChangeArrowheads="1"/>
          </p:cNvPicPr>
          <p:nvPr/>
        </p:nvPicPr>
        <p:blipFill>
          <a:blip r:embed="rId3"/>
          <a:srcRect/>
          <a:stretch>
            <a:fillRect/>
          </a:stretch>
        </p:blipFill>
        <p:spPr bwMode="auto">
          <a:xfrm>
            <a:off x="8934376" y="5134708"/>
            <a:ext cx="2976270" cy="1516819"/>
          </a:xfrm>
          <a:prstGeom prst="rect">
            <a:avLst/>
          </a:prstGeom>
          <a:noFill/>
          <a:ln w="9525">
            <a:noFill/>
            <a:miter lim="800000"/>
            <a:headEnd/>
            <a:tailEnd/>
          </a:ln>
          <a:effectLst/>
        </p:spPr>
      </p:pic>
      <p:pic>
        <p:nvPicPr>
          <p:cNvPr id="16388" name="Picture 4"/>
          <p:cNvPicPr>
            <a:picLocks noChangeAspect="1" noChangeArrowheads="1"/>
          </p:cNvPicPr>
          <p:nvPr/>
        </p:nvPicPr>
        <p:blipFill>
          <a:blip r:embed="rId4"/>
          <a:srcRect/>
          <a:stretch>
            <a:fillRect/>
          </a:stretch>
        </p:blipFill>
        <p:spPr bwMode="auto">
          <a:xfrm>
            <a:off x="380782" y="5036237"/>
            <a:ext cx="2478120" cy="1618738"/>
          </a:xfrm>
          <a:prstGeom prst="rect">
            <a:avLst/>
          </a:prstGeom>
          <a:noFill/>
          <a:ln w="9525">
            <a:noFill/>
            <a:miter lim="800000"/>
            <a:headEnd/>
            <a:tailEnd/>
          </a:ln>
          <a:effectLst/>
        </p:spPr>
      </p:pic>
      <p:pic>
        <p:nvPicPr>
          <p:cNvPr id="16389" name="Picture 5"/>
          <p:cNvPicPr>
            <a:picLocks noChangeAspect="1" noChangeArrowheads="1"/>
          </p:cNvPicPr>
          <p:nvPr/>
        </p:nvPicPr>
        <p:blipFill>
          <a:blip r:embed="rId5"/>
          <a:srcRect/>
          <a:stretch>
            <a:fillRect/>
          </a:stretch>
        </p:blipFill>
        <p:spPr bwMode="auto">
          <a:xfrm>
            <a:off x="3030707" y="4994031"/>
            <a:ext cx="2612871" cy="1674055"/>
          </a:xfrm>
          <a:prstGeom prst="rect">
            <a:avLst/>
          </a:prstGeom>
          <a:noFill/>
          <a:ln w="9525">
            <a:noFill/>
            <a:miter lim="800000"/>
            <a:headEnd/>
            <a:tailEnd/>
          </a:ln>
          <a:effectLst/>
        </p:spPr>
      </p:pic>
    </p:spTree>
    <p:extLst>
      <p:ext uri="{BB962C8B-B14F-4D97-AF65-F5344CB8AC3E}">
        <p14:creationId xmlns:p14="http://schemas.microsoft.com/office/powerpoint/2010/main" val="385142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3E8E-A944-1CC2-E7E2-1BE2D9225D4F}"/>
              </a:ext>
            </a:extLst>
          </p:cNvPr>
          <p:cNvSpPr>
            <a:spLocks noGrp="1"/>
          </p:cNvSpPr>
          <p:nvPr>
            <p:ph type="title"/>
          </p:nvPr>
        </p:nvSpPr>
        <p:spPr>
          <a:xfrm>
            <a:off x="685801" y="609601"/>
            <a:ext cx="10131425" cy="983226"/>
          </a:xfrm>
        </p:spPr>
        <p:txBody>
          <a:bodyPr/>
          <a:lstStyle/>
          <a:p>
            <a:r>
              <a:rPr lang="en-IN" b="1" dirty="0">
                <a:solidFill>
                  <a:srgbClr val="FFC000"/>
                </a:solidFill>
              </a:rPr>
              <a:t>Data Modelling - Overview</a:t>
            </a:r>
          </a:p>
        </p:txBody>
      </p:sp>
      <p:pic>
        <p:nvPicPr>
          <p:cNvPr id="5" name="Picture 4">
            <a:extLst>
              <a:ext uri="{FF2B5EF4-FFF2-40B4-BE49-F238E27FC236}">
                <a16:creationId xmlns:a16="http://schemas.microsoft.com/office/drawing/2014/main" id="{7E09DE2C-B64B-83BD-32C6-9C794C465063}"/>
              </a:ext>
            </a:extLst>
          </p:cNvPr>
          <p:cNvPicPr>
            <a:picLocks noChangeAspect="1"/>
          </p:cNvPicPr>
          <p:nvPr/>
        </p:nvPicPr>
        <p:blipFill>
          <a:blip r:embed="rId2"/>
          <a:stretch>
            <a:fillRect/>
          </a:stretch>
        </p:blipFill>
        <p:spPr>
          <a:xfrm>
            <a:off x="954799" y="1800375"/>
            <a:ext cx="9433539" cy="4815269"/>
          </a:xfrm>
          <a:prstGeom prst="rect">
            <a:avLst/>
          </a:prstGeom>
        </p:spPr>
      </p:pic>
    </p:spTree>
    <p:extLst>
      <p:ext uri="{BB962C8B-B14F-4D97-AF65-F5344CB8AC3E}">
        <p14:creationId xmlns:p14="http://schemas.microsoft.com/office/powerpoint/2010/main" val="262981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B908-21D9-D76D-223C-FD2859171939}"/>
              </a:ext>
            </a:extLst>
          </p:cNvPr>
          <p:cNvSpPr>
            <a:spLocks noGrp="1"/>
          </p:cNvSpPr>
          <p:nvPr>
            <p:ph type="title"/>
          </p:nvPr>
        </p:nvSpPr>
        <p:spPr>
          <a:xfrm>
            <a:off x="685801" y="182881"/>
            <a:ext cx="10131425" cy="562708"/>
          </a:xfrm>
        </p:spPr>
        <p:txBody>
          <a:bodyPr>
            <a:normAutofit fontScale="90000"/>
          </a:bodyPr>
          <a:lstStyle/>
          <a:p>
            <a:r>
              <a:rPr lang="en-IN" b="1" dirty="0">
                <a:solidFill>
                  <a:srgbClr val="FFC000"/>
                </a:solidFill>
              </a:rPr>
              <a:t>Dax Measures</a:t>
            </a:r>
          </a:p>
        </p:txBody>
      </p:sp>
      <p:sp>
        <p:nvSpPr>
          <p:cNvPr id="3" name="Content Placeholder 2">
            <a:extLst>
              <a:ext uri="{FF2B5EF4-FFF2-40B4-BE49-F238E27FC236}">
                <a16:creationId xmlns:a16="http://schemas.microsoft.com/office/drawing/2014/main" id="{58B58854-CDA0-167A-261D-C1660E3F74E0}"/>
              </a:ext>
            </a:extLst>
          </p:cNvPr>
          <p:cNvSpPr>
            <a:spLocks noGrp="1"/>
          </p:cNvSpPr>
          <p:nvPr>
            <p:ph idx="1"/>
          </p:nvPr>
        </p:nvSpPr>
        <p:spPr>
          <a:xfrm>
            <a:off x="685801" y="928469"/>
            <a:ext cx="9991577" cy="5929532"/>
          </a:xfrm>
        </p:spPr>
        <p:txBody>
          <a:bodyPr>
            <a:normAutofit lnSpcReduction="10000"/>
          </a:bodyPr>
          <a:lstStyle/>
          <a:p>
            <a:pPr>
              <a:lnSpc>
                <a:spcPct val="150000"/>
              </a:lnSpc>
            </a:pPr>
            <a:r>
              <a:rPr lang="en-US" sz="2000" dirty="0">
                <a:solidFill>
                  <a:schemeClr val="tx1"/>
                </a:solidFill>
              </a:rPr>
              <a:t>Dax is called as </a:t>
            </a:r>
            <a:r>
              <a:rPr lang="en-US" sz="2000">
                <a:solidFill>
                  <a:schemeClr val="tx1"/>
                </a:solidFill>
              </a:rPr>
              <a:t>Data Analysis </a:t>
            </a:r>
            <a:r>
              <a:rPr lang="en-US" sz="2000" dirty="0">
                <a:solidFill>
                  <a:schemeClr val="tx1"/>
                </a:solidFill>
              </a:rPr>
              <a:t>Expression.</a:t>
            </a:r>
          </a:p>
          <a:p>
            <a:pPr>
              <a:lnSpc>
                <a:spcPct val="150000"/>
              </a:lnSpc>
            </a:pPr>
            <a:r>
              <a:rPr lang="en-US" sz="1900" dirty="0">
                <a:solidFill>
                  <a:schemeClr val="tx1"/>
                </a:solidFill>
              </a:rPr>
              <a:t>DAX is a formula language used in Power BI.</a:t>
            </a:r>
          </a:p>
          <a:p>
            <a:pPr>
              <a:lnSpc>
                <a:spcPct val="150000"/>
              </a:lnSpc>
            </a:pPr>
            <a:r>
              <a:rPr lang="en-US" sz="2000" dirty="0">
                <a:solidFill>
                  <a:schemeClr val="tx1"/>
                </a:solidFill>
              </a:rPr>
              <a:t>To perform calculations and data analysis.</a:t>
            </a:r>
            <a:endParaRPr lang="en-US" sz="1900" dirty="0">
              <a:solidFill>
                <a:schemeClr val="tx1"/>
              </a:solidFill>
            </a:endParaRPr>
          </a:p>
          <a:p>
            <a:pPr marL="0" indent="0">
              <a:lnSpc>
                <a:spcPct val="150000"/>
              </a:lnSpc>
              <a:buNone/>
            </a:pPr>
            <a:r>
              <a:rPr lang="en-US" sz="2400" b="1" dirty="0">
                <a:solidFill>
                  <a:schemeClr val="tx1"/>
                </a:solidFill>
              </a:rPr>
              <a:t>Measures:</a:t>
            </a:r>
          </a:p>
          <a:p>
            <a:pPr>
              <a:lnSpc>
                <a:spcPct val="150000"/>
              </a:lnSpc>
            </a:pPr>
            <a:r>
              <a:rPr lang="en-US" dirty="0">
                <a:solidFill>
                  <a:schemeClr val="tx1"/>
                </a:solidFill>
              </a:rPr>
              <a:t>Total Likes  = SUM(‘youtube_dislike_dataset'[Total_likes])</a:t>
            </a:r>
          </a:p>
          <a:p>
            <a:pPr>
              <a:lnSpc>
                <a:spcPct val="150000"/>
              </a:lnSpc>
            </a:pPr>
            <a:r>
              <a:rPr lang="en-US" dirty="0">
                <a:solidFill>
                  <a:schemeClr val="tx1"/>
                </a:solidFill>
              </a:rPr>
              <a:t>Total Dislikes = SUM(‘youtube_dislike_dataset'[Total_dislikes])</a:t>
            </a:r>
          </a:p>
          <a:p>
            <a:pPr>
              <a:lnSpc>
                <a:spcPct val="150000"/>
              </a:lnSpc>
            </a:pPr>
            <a:r>
              <a:rPr lang="en-IN" dirty="0">
                <a:solidFill>
                  <a:schemeClr val="tx1"/>
                </a:solidFill>
              </a:rPr>
              <a:t>Total Videos = DISTINCTCOUNT(‘youtube_dislike_dataset‘[video_id])</a:t>
            </a:r>
          </a:p>
          <a:p>
            <a:pPr>
              <a:lnSpc>
                <a:spcPct val="150000"/>
              </a:lnSpc>
            </a:pPr>
            <a:r>
              <a:rPr lang="en-IN" dirty="0">
                <a:solidFill>
                  <a:schemeClr val="tx1"/>
                </a:solidFill>
              </a:rPr>
              <a:t>Total Comments = SUM(‘youtube_dislike_dataset’[comment_count])</a:t>
            </a:r>
          </a:p>
          <a:p>
            <a:pPr>
              <a:lnSpc>
                <a:spcPct val="150000"/>
              </a:lnSpc>
            </a:pPr>
            <a:r>
              <a:rPr lang="en-IN" dirty="0">
                <a:solidFill>
                  <a:schemeClr val="tx1"/>
                </a:solidFill>
              </a:rPr>
              <a:t>Total View = SUM(‘youtube_dislike_dataset’[view_count])</a:t>
            </a:r>
          </a:p>
          <a:p>
            <a:pPr>
              <a:lnSpc>
                <a:spcPct val="150000"/>
              </a:lnSpc>
            </a:pPr>
            <a:r>
              <a:rPr lang="en-IN" dirty="0">
                <a:solidFill>
                  <a:schemeClr val="tx1"/>
                </a:solidFill>
              </a:rPr>
              <a:t>Total Channels = DISTINCTCOUNT(‘youtude_dislike_dataset’[channel_title])</a:t>
            </a:r>
          </a:p>
          <a:p>
            <a:pPr>
              <a:lnSpc>
                <a:spcPct val="150000"/>
              </a:lnSpc>
            </a:pPr>
            <a:endParaRPr lang="en-IN" dirty="0">
              <a:solidFill>
                <a:schemeClr val="tx1"/>
              </a:solidFill>
            </a:endParaRPr>
          </a:p>
          <a:p>
            <a:pPr>
              <a:lnSpc>
                <a:spcPct val="150000"/>
              </a:lnSpc>
            </a:pPr>
            <a:endParaRPr lang="en-US" dirty="0">
              <a:solidFill>
                <a:schemeClr val="tx1"/>
              </a:solidFill>
            </a:endParaRPr>
          </a:p>
          <a:p>
            <a:endParaRPr lang="en-US" dirty="0">
              <a:solidFill>
                <a:schemeClr val="tx1"/>
              </a:solidFill>
            </a:endParaRPr>
          </a:p>
          <a:p>
            <a:endParaRPr lang="en-US" dirty="0">
              <a:solidFill>
                <a:schemeClr val="tx1"/>
              </a:solidFill>
            </a:endParaRPr>
          </a:p>
          <a:p>
            <a:pPr marL="0" indent="0">
              <a:buNone/>
            </a:pPr>
            <a:endParaRPr lang="en-IN" dirty="0">
              <a:solidFill>
                <a:schemeClr val="tx1"/>
              </a:solidFill>
            </a:endParaRPr>
          </a:p>
          <a:p>
            <a:endParaRPr lang="en-IN" dirty="0">
              <a:solidFill>
                <a:schemeClr val="tx1"/>
              </a:solidFill>
            </a:endParaRPr>
          </a:p>
          <a:p>
            <a:pPr marL="0" indent="0">
              <a:buNone/>
            </a:pPr>
            <a:endParaRPr lang="en-IN" dirty="0">
              <a:solidFill>
                <a:schemeClr val="tx1"/>
              </a:solidFill>
            </a:endParaRPr>
          </a:p>
        </p:txBody>
      </p:sp>
    </p:spTree>
    <p:extLst>
      <p:ext uri="{BB962C8B-B14F-4D97-AF65-F5344CB8AC3E}">
        <p14:creationId xmlns:p14="http://schemas.microsoft.com/office/powerpoint/2010/main" val="953737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F137-1A53-181B-B772-D9792B255408}"/>
              </a:ext>
            </a:extLst>
          </p:cNvPr>
          <p:cNvSpPr>
            <a:spLocks noGrp="1"/>
          </p:cNvSpPr>
          <p:nvPr>
            <p:ph type="title"/>
          </p:nvPr>
        </p:nvSpPr>
        <p:spPr>
          <a:xfrm>
            <a:off x="685801" y="301337"/>
            <a:ext cx="10131425" cy="976746"/>
          </a:xfrm>
        </p:spPr>
        <p:txBody>
          <a:bodyPr/>
          <a:lstStyle/>
          <a:p>
            <a:r>
              <a:rPr lang="en-IN" b="1" dirty="0">
                <a:solidFill>
                  <a:srgbClr val="FFC000"/>
                </a:solidFill>
              </a:rPr>
              <a:t>Power BI Dashboard Overview</a:t>
            </a:r>
          </a:p>
        </p:txBody>
      </p:sp>
      <p:pic>
        <p:nvPicPr>
          <p:cNvPr id="5" name="Content Placeholder 4">
            <a:extLst>
              <a:ext uri="{FF2B5EF4-FFF2-40B4-BE49-F238E27FC236}">
                <a16:creationId xmlns:a16="http://schemas.microsoft.com/office/drawing/2014/main" id="{C6797413-AB47-4742-B577-464F77DCC9BE}"/>
              </a:ext>
            </a:extLst>
          </p:cNvPr>
          <p:cNvPicPr>
            <a:picLocks noGrp="1" noChangeAspect="1"/>
          </p:cNvPicPr>
          <p:nvPr>
            <p:ph idx="1"/>
          </p:nvPr>
        </p:nvPicPr>
        <p:blipFill>
          <a:blip r:embed="rId2"/>
          <a:stretch>
            <a:fillRect/>
          </a:stretch>
        </p:blipFill>
        <p:spPr>
          <a:xfrm>
            <a:off x="780837" y="1278083"/>
            <a:ext cx="10921428" cy="5354587"/>
          </a:xfrm>
        </p:spPr>
      </p:pic>
    </p:spTree>
    <p:extLst>
      <p:ext uri="{BB962C8B-B14F-4D97-AF65-F5344CB8AC3E}">
        <p14:creationId xmlns:p14="http://schemas.microsoft.com/office/powerpoint/2010/main" val="3705862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blob:https://web.whatsapp.com/7b7a07e7-5bf6-4612-9c0e-58c0d31d37f9"/>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blob:https://web.whatsapp.com/7b7a07e7-5bf6-4612-9c0e-58c0d31d37f9"/>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A237F4C2-158D-4E5A-B0EA-C2C62B00D84E}"/>
              </a:ext>
            </a:extLst>
          </p:cNvPr>
          <p:cNvPicPr>
            <a:picLocks noChangeAspect="1"/>
          </p:cNvPicPr>
          <p:nvPr/>
        </p:nvPicPr>
        <p:blipFill>
          <a:blip r:embed="rId2"/>
          <a:stretch>
            <a:fillRect/>
          </a:stretch>
        </p:blipFill>
        <p:spPr>
          <a:xfrm>
            <a:off x="530472" y="464658"/>
            <a:ext cx="11131055" cy="59286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0B3DB-701F-702E-5D36-741DA0AE65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9DA81B-D097-0D4B-EB48-5EB445F6F67E}"/>
              </a:ext>
            </a:extLst>
          </p:cNvPr>
          <p:cNvSpPr txBox="1">
            <a:spLocks/>
          </p:cNvSpPr>
          <p:nvPr/>
        </p:nvSpPr>
        <p:spPr>
          <a:xfrm>
            <a:off x="376311" y="1600201"/>
            <a:ext cx="6164653" cy="644236"/>
          </a:xfrm>
          <a:prstGeom prst="rect">
            <a:avLst/>
          </a:prstGeom>
          <a:effectLst>
            <a:outerShdw blurRad="25400" dir="17880000">
              <a:srgbClr val="000000">
                <a:alpha val="46000"/>
              </a:srgbClr>
            </a:outerShdw>
          </a:effectLst>
        </p:spPr>
        <p:txBody>
          <a:bodyPr vert="horz" lIns="91440" tIns="45720" rIns="91440" bIns="45720" rtlCol="0" anchor="ctr">
            <a:normAutofit fontScale="900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accent6">
                    <a:lumMod val="60000"/>
                    <a:lumOff val="40000"/>
                  </a:schemeClr>
                </a:solidFill>
              </a:rPr>
              <a:t>Monthly trend of total views</a:t>
            </a:r>
          </a:p>
        </p:txBody>
      </p:sp>
      <p:sp>
        <p:nvSpPr>
          <p:cNvPr id="6" name="Text Placeholder 3">
            <a:extLst>
              <a:ext uri="{FF2B5EF4-FFF2-40B4-BE49-F238E27FC236}">
                <a16:creationId xmlns:a16="http://schemas.microsoft.com/office/drawing/2014/main" id="{5433B7AD-4FC0-A502-3BB9-4B63380AB215}"/>
              </a:ext>
            </a:extLst>
          </p:cNvPr>
          <p:cNvSpPr txBox="1">
            <a:spLocks/>
          </p:cNvSpPr>
          <p:nvPr/>
        </p:nvSpPr>
        <p:spPr>
          <a:xfrm>
            <a:off x="685800" y="2400301"/>
            <a:ext cx="6164653" cy="2857498"/>
          </a:xfrm>
          <a:prstGeom prst="rect">
            <a:avLst/>
          </a:prstGeom>
        </p:spPr>
        <p:txBody>
          <a:bodyPr>
            <a:no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IN" dirty="0"/>
          </a:p>
          <a:p>
            <a:r>
              <a:rPr lang="en-IN" dirty="0"/>
              <a:t> </a:t>
            </a:r>
          </a:p>
        </p:txBody>
      </p:sp>
      <p:sp>
        <p:nvSpPr>
          <p:cNvPr id="7" name="Rectangle 6"/>
          <p:cNvSpPr/>
          <p:nvPr/>
        </p:nvSpPr>
        <p:spPr>
          <a:xfrm>
            <a:off x="464234" y="2551837"/>
            <a:ext cx="6076730" cy="1754326"/>
          </a:xfrm>
          <a:prstGeom prst="rect">
            <a:avLst/>
          </a:prstGeom>
        </p:spPr>
        <p:txBody>
          <a:bodyPr wrap="square">
            <a:spAutoFit/>
          </a:bodyPr>
          <a:lstStyle/>
          <a:p>
            <a:pPr>
              <a:lnSpc>
                <a:spcPct val="150000"/>
              </a:lnSpc>
            </a:pPr>
            <a:r>
              <a:rPr lang="en-IN" dirty="0"/>
              <a:t> Stacked column chart→ horizontal bars are easier to read, it gives quick comparison across Months.</a:t>
            </a:r>
          </a:p>
          <a:p>
            <a:pPr>
              <a:lnSpc>
                <a:spcPct val="150000"/>
              </a:lnSpc>
            </a:pPr>
            <a:r>
              <a:rPr lang="en-IN" dirty="0"/>
              <a:t>Y axis: Month Name</a:t>
            </a:r>
          </a:p>
          <a:p>
            <a:pPr>
              <a:lnSpc>
                <a:spcPct val="150000"/>
              </a:lnSpc>
            </a:pPr>
            <a:r>
              <a:rPr lang="en-IN" dirty="0"/>
              <a:t>X axis:  Total  Views </a:t>
            </a:r>
          </a:p>
        </p:txBody>
      </p:sp>
      <p:pic>
        <p:nvPicPr>
          <p:cNvPr id="10" name="Picture 9">
            <a:extLst>
              <a:ext uri="{FF2B5EF4-FFF2-40B4-BE49-F238E27FC236}">
                <a16:creationId xmlns:a16="http://schemas.microsoft.com/office/drawing/2014/main" id="{5BF94428-0870-4FF2-9693-622B32269BC8}"/>
              </a:ext>
            </a:extLst>
          </p:cNvPr>
          <p:cNvPicPr>
            <a:picLocks noChangeAspect="1"/>
          </p:cNvPicPr>
          <p:nvPr/>
        </p:nvPicPr>
        <p:blipFill>
          <a:blip r:embed="rId2"/>
          <a:stretch>
            <a:fillRect/>
          </a:stretch>
        </p:blipFill>
        <p:spPr>
          <a:xfrm>
            <a:off x="6626928" y="1150707"/>
            <a:ext cx="5383561" cy="3949612"/>
          </a:xfrm>
          <a:prstGeom prst="rect">
            <a:avLst/>
          </a:prstGeom>
        </p:spPr>
      </p:pic>
    </p:spTree>
    <p:extLst>
      <p:ext uri="{BB962C8B-B14F-4D97-AF65-F5344CB8AC3E}">
        <p14:creationId xmlns:p14="http://schemas.microsoft.com/office/powerpoint/2010/main" val="208263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91245-19C9-0E37-2DFD-4046C8C85E8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83C3F8F-A4D3-C9E4-8C8F-5F74BCDCF913}"/>
              </a:ext>
            </a:extLst>
          </p:cNvPr>
          <p:cNvSpPr>
            <a:spLocks noGrp="1"/>
          </p:cNvSpPr>
          <p:nvPr>
            <p:ph type="title"/>
          </p:nvPr>
        </p:nvSpPr>
        <p:spPr>
          <a:xfrm>
            <a:off x="685800" y="1600200"/>
            <a:ext cx="6629401" cy="696191"/>
          </a:xfrm>
        </p:spPr>
        <p:txBody>
          <a:bodyPr>
            <a:normAutofit fontScale="90000"/>
          </a:bodyPr>
          <a:lstStyle/>
          <a:p>
            <a:r>
              <a:rPr lang="en-IN" b="1" dirty="0">
                <a:solidFill>
                  <a:schemeClr val="accent6">
                    <a:lumMod val="60000"/>
                    <a:lumOff val="40000"/>
                  </a:schemeClr>
                </a:solidFill>
              </a:rPr>
              <a:t>Identify the top-performing channels</a:t>
            </a:r>
          </a:p>
        </p:txBody>
      </p:sp>
      <p:sp>
        <p:nvSpPr>
          <p:cNvPr id="4" name="Text Placeholder 3">
            <a:extLst>
              <a:ext uri="{FF2B5EF4-FFF2-40B4-BE49-F238E27FC236}">
                <a16:creationId xmlns:a16="http://schemas.microsoft.com/office/drawing/2014/main" id="{77F9EB65-A7F9-9980-3B16-7A7FB6D234D0}"/>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IN" dirty="0"/>
          </a:p>
          <a:p>
            <a:endParaRPr lang="en-IN" dirty="0"/>
          </a:p>
        </p:txBody>
      </p:sp>
      <p:sp>
        <p:nvSpPr>
          <p:cNvPr id="5" name="Rectangle 4"/>
          <p:cNvSpPr/>
          <p:nvPr/>
        </p:nvSpPr>
        <p:spPr>
          <a:xfrm>
            <a:off x="984738" y="2551837"/>
            <a:ext cx="5387927" cy="1754326"/>
          </a:xfrm>
          <a:prstGeom prst="rect">
            <a:avLst/>
          </a:prstGeom>
        </p:spPr>
        <p:txBody>
          <a:bodyPr wrap="square">
            <a:spAutoFit/>
          </a:bodyPr>
          <a:lstStyle/>
          <a:p>
            <a:pPr indent="-342900">
              <a:lnSpc>
                <a:spcPct val="150000"/>
              </a:lnSpc>
              <a:buFont typeface="Arial" panose="020B0604020202020204" pitchFamily="34" charset="0"/>
              <a:buChar char="•"/>
            </a:pPr>
            <a:r>
              <a:rPr lang="en-IN" b="1" dirty="0"/>
              <a:t>Donut</a:t>
            </a:r>
            <a:r>
              <a:rPr lang="en-IN" b="1" dirty="0">
                <a:solidFill>
                  <a:srgbClr val="FF0000"/>
                </a:solidFill>
              </a:rPr>
              <a:t> </a:t>
            </a:r>
            <a:r>
              <a:rPr lang="en-IN" b="1" dirty="0"/>
              <a:t>chart</a:t>
            </a:r>
            <a:r>
              <a:rPr lang="en-IN" dirty="0"/>
              <a:t>→ Show each channel’s contribution to total views.</a:t>
            </a:r>
          </a:p>
          <a:p>
            <a:pPr indent="-342900">
              <a:lnSpc>
                <a:spcPct val="150000"/>
              </a:lnSpc>
              <a:buFont typeface="Arial" panose="020B0604020202020204" pitchFamily="34" charset="0"/>
              <a:buChar char="•"/>
            </a:pPr>
            <a:r>
              <a:rPr lang="en-IN" dirty="0"/>
              <a:t>Legend: Channel title</a:t>
            </a:r>
          </a:p>
          <a:p>
            <a:pPr indent="-342900">
              <a:lnSpc>
                <a:spcPct val="150000"/>
              </a:lnSpc>
              <a:buFont typeface="Arial" panose="020B0604020202020204" pitchFamily="34" charset="0"/>
              <a:buChar char="•"/>
            </a:pPr>
            <a:r>
              <a:rPr lang="en-IN" dirty="0"/>
              <a:t>Values:  Sum of View count</a:t>
            </a:r>
          </a:p>
        </p:txBody>
      </p:sp>
      <p:pic>
        <p:nvPicPr>
          <p:cNvPr id="6" name="Picture 5">
            <a:extLst>
              <a:ext uri="{FF2B5EF4-FFF2-40B4-BE49-F238E27FC236}">
                <a16:creationId xmlns:a16="http://schemas.microsoft.com/office/drawing/2014/main" id="{BF2678E5-7A1F-49A1-B0A4-3C20A02DA319}"/>
              </a:ext>
            </a:extLst>
          </p:cNvPr>
          <p:cNvPicPr>
            <a:picLocks noChangeAspect="1"/>
          </p:cNvPicPr>
          <p:nvPr/>
        </p:nvPicPr>
        <p:blipFill>
          <a:blip r:embed="rId2"/>
          <a:stretch>
            <a:fillRect/>
          </a:stretch>
        </p:blipFill>
        <p:spPr>
          <a:xfrm>
            <a:off x="7130265" y="1363995"/>
            <a:ext cx="4613097" cy="3464859"/>
          </a:xfrm>
          <a:prstGeom prst="rect">
            <a:avLst/>
          </a:prstGeom>
        </p:spPr>
      </p:pic>
    </p:spTree>
    <p:extLst>
      <p:ext uri="{BB962C8B-B14F-4D97-AF65-F5344CB8AC3E}">
        <p14:creationId xmlns:p14="http://schemas.microsoft.com/office/powerpoint/2010/main" val="1155336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91245-19C9-0E37-2DFD-4046C8C85E8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83C3F8F-A4D3-C9E4-8C8F-5F74BCDCF913}"/>
              </a:ext>
            </a:extLst>
          </p:cNvPr>
          <p:cNvSpPr>
            <a:spLocks noGrp="1"/>
          </p:cNvSpPr>
          <p:nvPr>
            <p:ph type="title"/>
          </p:nvPr>
        </p:nvSpPr>
        <p:spPr>
          <a:xfrm>
            <a:off x="685800" y="1600200"/>
            <a:ext cx="6629401" cy="696191"/>
          </a:xfrm>
        </p:spPr>
        <p:txBody>
          <a:bodyPr>
            <a:normAutofit fontScale="90000"/>
          </a:bodyPr>
          <a:lstStyle/>
          <a:p>
            <a:r>
              <a:rPr lang="en-IN" b="1" dirty="0">
                <a:solidFill>
                  <a:schemeClr val="accent6">
                    <a:lumMod val="60000"/>
                    <a:lumOff val="40000"/>
                  </a:schemeClr>
                </a:solidFill>
              </a:rPr>
              <a:t>Total likes Across Different Months</a:t>
            </a:r>
          </a:p>
        </p:txBody>
      </p:sp>
      <p:sp>
        <p:nvSpPr>
          <p:cNvPr id="4" name="Text Placeholder 3">
            <a:extLst>
              <a:ext uri="{FF2B5EF4-FFF2-40B4-BE49-F238E27FC236}">
                <a16:creationId xmlns:a16="http://schemas.microsoft.com/office/drawing/2014/main" id="{77F9EB65-A7F9-9980-3B16-7A7FB6D234D0}"/>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IN" dirty="0"/>
          </a:p>
          <a:p>
            <a:endParaRPr lang="en-IN" dirty="0"/>
          </a:p>
        </p:txBody>
      </p:sp>
      <p:sp>
        <p:nvSpPr>
          <p:cNvPr id="5" name="Rectangle 4"/>
          <p:cNvSpPr/>
          <p:nvPr/>
        </p:nvSpPr>
        <p:spPr>
          <a:xfrm>
            <a:off x="984738" y="2551837"/>
            <a:ext cx="5387927" cy="1754326"/>
          </a:xfrm>
          <a:prstGeom prst="rect">
            <a:avLst/>
          </a:prstGeom>
        </p:spPr>
        <p:txBody>
          <a:bodyPr wrap="square">
            <a:spAutoFit/>
          </a:bodyPr>
          <a:lstStyle/>
          <a:p>
            <a:pPr indent="-342900">
              <a:lnSpc>
                <a:spcPct val="150000"/>
              </a:lnSpc>
              <a:buFont typeface="Arial" panose="020B0604020202020204" pitchFamily="34" charset="0"/>
              <a:buChar char="•"/>
            </a:pPr>
            <a:r>
              <a:rPr lang="en-IN" b="1" dirty="0"/>
              <a:t>Pie chart</a:t>
            </a:r>
            <a:r>
              <a:rPr lang="en-IN" dirty="0"/>
              <a:t>→ Show each Months received to total        </a:t>
            </a:r>
          </a:p>
          <a:p>
            <a:pPr indent="-342900">
              <a:lnSpc>
                <a:spcPct val="150000"/>
              </a:lnSpc>
            </a:pPr>
            <a:r>
              <a:rPr lang="en-IN" dirty="0"/>
              <a:t>likes.</a:t>
            </a:r>
          </a:p>
          <a:p>
            <a:pPr indent="-342900">
              <a:lnSpc>
                <a:spcPct val="150000"/>
              </a:lnSpc>
              <a:buFont typeface="Arial" panose="020B0604020202020204" pitchFamily="34" charset="0"/>
              <a:buChar char="•"/>
            </a:pPr>
            <a:r>
              <a:rPr lang="en-IN" dirty="0"/>
              <a:t>Legend: Months</a:t>
            </a:r>
          </a:p>
          <a:p>
            <a:pPr indent="-342900">
              <a:lnSpc>
                <a:spcPct val="150000"/>
              </a:lnSpc>
              <a:buFont typeface="Arial" panose="020B0604020202020204" pitchFamily="34" charset="0"/>
              <a:buChar char="•"/>
            </a:pPr>
            <a:r>
              <a:rPr lang="en-IN" dirty="0"/>
              <a:t>Values:  Total Likes</a:t>
            </a:r>
          </a:p>
        </p:txBody>
      </p:sp>
      <p:pic>
        <p:nvPicPr>
          <p:cNvPr id="7" name="Picture 6">
            <a:extLst>
              <a:ext uri="{FF2B5EF4-FFF2-40B4-BE49-F238E27FC236}">
                <a16:creationId xmlns:a16="http://schemas.microsoft.com/office/drawing/2014/main" id="{D0CB7FAA-D9B1-4252-87EC-94134FA6D102}"/>
              </a:ext>
            </a:extLst>
          </p:cNvPr>
          <p:cNvPicPr>
            <a:picLocks noChangeAspect="1"/>
          </p:cNvPicPr>
          <p:nvPr/>
        </p:nvPicPr>
        <p:blipFill>
          <a:blip r:embed="rId2"/>
          <a:stretch>
            <a:fillRect/>
          </a:stretch>
        </p:blipFill>
        <p:spPr>
          <a:xfrm>
            <a:off x="7172091" y="1294205"/>
            <a:ext cx="4674011" cy="3709310"/>
          </a:xfrm>
          <a:prstGeom prst="rect">
            <a:avLst/>
          </a:prstGeom>
        </p:spPr>
      </p:pic>
    </p:spTree>
    <p:extLst>
      <p:ext uri="{BB962C8B-B14F-4D97-AF65-F5344CB8AC3E}">
        <p14:creationId xmlns:p14="http://schemas.microsoft.com/office/powerpoint/2010/main" val="1155336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38C65-62DF-704D-A828-EA65F93180F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7E07294-8AFE-4487-AF9F-F52704DEC920}"/>
              </a:ext>
            </a:extLst>
          </p:cNvPr>
          <p:cNvSpPr>
            <a:spLocks noGrp="1"/>
          </p:cNvSpPr>
          <p:nvPr>
            <p:ph type="title"/>
          </p:nvPr>
        </p:nvSpPr>
        <p:spPr>
          <a:xfrm>
            <a:off x="685800" y="970672"/>
            <a:ext cx="6629401" cy="1325720"/>
          </a:xfrm>
        </p:spPr>
        <p:txBody>
          <a:bodyPr>
            <a:normAutofit/>
          </a:bodyPr>
          <a:lstStyle/>
          <a:p>
            <a:r>
              <a:rPr lang="en-IN" b="1" dirty="0">
                <a:solidFill>
                  <a:schemeClr val="accent6">
                    <a:lumMod val="60000"/>
                    <a:lumOff val="40000"/>
                  </a:schemeClr>
                </a:solidFill>
              </a:rPr>
              <a:t>Highest and Lowest Total Likes Across Channels</a:t>
            </a:r>
          </a:p>
        </p:txBody>
      </p:sp>
      <p:sp>
        <p:nvSpPr>
          <p:cNvPr id="4" name="Text Placeholder 3">
            <a:extLst>
              <a:ext uri="{FF2B5EF4-FFF2-40B4-BE49-F238E27FC236}">
                <a16:creationId xmlns:a16="http://schemas.microsoft.com/office/drawing/2014/main" id="{43C7176C-86C1-644D-10B2-6AD3ED77103A}"/>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nSpc>
                <a:spcPct val="150000"/>
              </a:lnSpc>
            </a:pPr>
            <a:r>
              <a:rPr lang="en-IN" b="1" dirty="0"/>
              <a:t>Stacked column chart→ horizontal bars are easier to read, it gives quick comparison across categories.</a:t>
            </a:r>
          </a:p>
          <a:p>
            <a:pPr>
              <a:lnSpc>
                <a:spcPct val="150000"/>
              </a:lnSpc>
            </a:pPr>
            <a:r>
              <a:rPr lang="en-IN" b="1" dirty="0"/>
              <a:t>Y axis: Channel title</a:t>
            </a:r>
          </a:p>
          <a:p>
            <a:pPr>
              <a:lnSpc>
                <a:spcPct val="150000"/>
              </a:lnSpc>
            </a:pPr>
            <a:r>
              <a:rPr lang="en-IN" b="1" dirty="0"/>
              <a:t>X axis: Total Likes </a:t>
            </a:r>
          </a:p>
          <a:p>
            <a:endParaRPr lang="en-IN" b="1" dirty="0"/>
          </a:p>
          <a:p>
            <a:endParaRPr lang="en-IN" b="1" dirty="0"/>
          </a:p>
        </p:txBody>
      </p:sp>
      <p:pic>
        <p:nvPicPr>
          <p:cNvPr id="6" name="Picture 5">
            <a:extLst>
              <a:ext uri="{FF2B5EF4-FFF2-40B4-BE49-F238E27FC236}">
                <a16:creationId xmlns:a16="http://schemas.microsoft.com/office/drawing/2014/main" id="{98F8D81A-E96D-44CC-B930-B435E1E3CF97}"/>
              </a:ext>
            </a:extLst>
          </p:cNvPr>
          <p:cNvPicPr>
            <a:picLocks noChangeAspect="1"/>
          </p:cNvPicPr>
          <p:nvPr/>
        </p:nvPicPr>
        <p:blipFill>
          <a:blip r:embed="rId2"/>
          <a:stretch>
            <a:fillRect/>
          </a:stretch>
        </p:blipFill>
        <p:spPr>
          <a:xfrm>
            <a:off x="7171362" y="970672"/>
            <a:ext cx="4818579" cy="3724618"/>
          </a:xfrm>
          <a:prstGeom prst="rect">
            <a:avLst/>
          </a:prstGeom>
        </p:spPr>
      </p:pic>
    </p:spTree>
    <p:extLst>
      <p:ext uri="{BB962C8B-B14F-4D97-AF65-F5344CB8AC3E}">
        <p14:creationId xmlns:p14="http://schemas.microsoft.com/office/powerpoint/2010/main" val="3154120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1EEB5-D785-E21F-DEB0-F786437773D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5EDB57A-F2DD-1DC5-3DC5-D11C95AB718E}"/>
              </a:ext>
            </a:extLst>
          </p:cNvPr>
          <p:cNvSpPr>
            <a:spLocks noGrp="1"/>
          </p:cNvSpPr>
          <p:nvPr>
            <p:ph type="title"/>
          </p:nvPr>
        </p:nvSpPr>
        <p:spPr>
          <a:xfrm>
            <a:off x="685800" y="1600200"/>
            <a:ext cx="6629401" cy="696191"/>
          </a:xfrm>
        </p:spPr>
        <p:txBody>
          <a:bodyPr>
            <a:normAutofit fontScale="90000"/>
          </a:bodyPr>
          <a:lstStyle/>
          <a:p>
            <a:r>
              <a:rPr lang="en-US" b="1" dirty="0">
                <a:solidFill>
                  <a:schemeClr val="accent6">
                    <a:lumMod val="60000"/>
                    <a:lumOff val="40000"/>
                  </a:schemeClr>
                </a:solidFill>
              </a:rPr>
              <a:t>Highest and Lowest Total Like Across Channels</a:t>
            </a:r>
            <a:endParaRPr lang="en-IN" b="1" dirty="0">
              <a:solidFill>
                <a:schemeClr val="accent6">
                  <a:lumMod val="60000"/>
                  <a:lumOff val="40000"/>
                </a:schemeClr>
              </a:solidFill>
            </a:endParaRPr>
          </a:p>
        </p:txBody>
      </p:sp>
      <p:sp>
        <p:nvSpPr>
          <p:cNvPr id="4" name="Text Placeholder 3">
            <a:extLst>
              <a:ext uri="{FF2B5EF4-FFF2-40B4-BE49-F238E27FC236}">
                <a16:creationId xmlns:a16="http://schemas.microsoft.com/office/drawing/2014/main" id="{1936A830-69E1-6415-5522-087CEA2D3181}"/>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nSpc>
                <a:spcPct val="150000"/>
              </a:lnSpc>
            </a:pPr>
            <a:r>
              <a:rPr lang="en-IN" b="1" dirty="0"/>
              <a:t>Stacked bar chart→ horizontal bars are easier to read, it gives quick comparison across categories.</a:t>
            </a:r>
          </a:p>
          <a:p>
            <a:pPr>
              <a:lnSpc>
                <a:spcPct val="150000"/>
              </a:lnSpc>
            </a:pPr>
            <a:r>
              <a:rPr lang="en-IN" b="1" dirty="0"/>
              <a:t>Y axis: Channel title</a:t>
            </a:r>
          </a:p>
          <a:p>
            <a:pPr>
              <a:lnSpc>
                <a:spcPct val="150000"/>
              </a:lnSpc>
            </a:pPr>
            <a:r>
              <a:rPr lang="en-IN" b="1" dirty="0"/>
              <a:t>X axis: Total Likes </a:t>
            </a:r>
          </a:p>
          <a:p>
            <a:endParaRPr lang="en-IN" b="1" dirty="0"/>
          </a:p>
          <a:p>
            <a:endParaRPr lang="en-IN" b="1" dirty="0"/>
          </a:p>
        </p:txBody>
      </p:sp>
      <p:pic>
        <p:nvPicPr>
          <p:cNvPr id="6" name="Picture 5">
            <a:extLst>
              <a:ext uri="{FF2B5EF4-FFF2-40B4-BE49-F238E27FC236}">
                <a16:creationId xmlns:a16="http://schemas.microsoft.com/office/drawing/2014/main" id="{B2CF371A-BFF5-43C0-A3C3-760823059660}"/>
              </a:ext>
            </a:extLst>
          </p:cNvPr>
          <p:cNvPicPr>
            <a:picLocks noChangeAspect="1"/>
          </p:cNvPicPr>
          <p:nvPr/>
        </p:nvPicPr>
        <p:blipFill>
          <a:blip r:embed="rId2"/>
          <a:stretch>
            <a:fillRect/>
          </a:stretch>
        </p:blipFill>
        <p:spPr>
          <a:xfrm>
            <a:off x="7304928" y="1215736"/>
            <a:ext cx="4732665" cy="3880372"/>
          </a:xfrm>
          <a:prstGeom prst="rect">
            <a:avLst/>
          </a:prstGeom>
        </p:spPr>
      </p:pic>
    </p:spTree>
    <p:extLst>
      <p:ext uri="{BB962C8B-B14F-4D97-AF65-F5344CB8AC3E}">
        <p14:creationId xmlns:p14="http://schemas.microsoft.com/office/powerpoint/2010/main" val="2949386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63398-240B-5847-E5C2-E8327D0C627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871A96B-C3B1-FCF1-2CAE-FA4C48F8B592}"/>
              </a:ext>
            </a:extLst>
          </p:cNvPr>
          <p:cNvSpPr>
            <a:spLocks noGrp="1"/>
          </p:cNvSpPr>
          <p:nvPr>
            <p:ph type="title"/>
          </p:nvPr>
        </p:nvSpPr>
        <p:spPr>
          <a:xfrm>
            <a:off x="685800" y="1600200"/>
            <a:ext cx="6629401" cy="696191"/>
          </a:xfrm>
        </p:spPr>
        <p:txBody>
          <a:bodyPr>
            <a:normAutofit fontScale="90000"/>
          </a:bodyPr>
          <a:lstStyle/>
          <a:p>
            <a:r>
              <a:rPr lang="en-IN" b="1" dirty="0">
                <a:solidFill>
                  <a:schemeClr val="accent6">
                    <a:lumMod val="60000"/>
                    <a:lumOff val="40000"/>
                  </a:schemeClr>
                </a:solidFill>
              </a:rPr>
              <a:t>Top Channel by Total Comments</a:t>
            </a:r>
          </a:p>
        </p:txBody>
      </p:sp>
      <p:sp>
        <p:nvSpPr>
          <p:cNvPr id="4" name="Text Placeholder 3">
            <a:extLst>
              <a:ext uri="{FF2B5EF4-FFF2-40B4-BE49-F238E27FC236}">
                <a16:creationId xmlns:a16="http://schemas.microsoft.com/office/drawing/2014/main" id="{1775B6E5-6180-95A7-5344-1BA8647571D7}"/>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nSpc>
                <a:spcPct val="150000"/>
              </a:lnSpc>
            </a:pPr>
            <a:r>
              <a:rPr lang="en-IN" b="1" dirty="0"/>
              <a:t>Area chart→ This chart shows how many comments each channel got..</a:t>
            </a:r>
          </a:p>
          <a:p>
            <a:pPr>
              <a:lnSpc>
                <a:spcPct val="150000"/>
              </a:lnSpc>
            </a:pPr>
            <a:r>
              <a:rPr lang="en-IN" b="1" dirty="0"/>
              <a:t>Y axis: Channel id</a:t>
            </a:r>
          </a:p>
          <a:p>
            <a:pPr>
              <a:lnSpc>
                <a:spcPct val="150000"/>
              </a:lnSpc>
            </a:pPr>
            <a:r>
              <a:rPr lang="en-IN" b="1" dirty="0"/>
              <a:t>X axis: Total Comments </a:t>
            </a:r>
          </a:p>
          <a:p>
            <a:endParaRPr lang="en-IN" b="1" dirty="0"/>
          </a:p>
          <a:p>
            <a:endParaRPr lang="en-IN" b="1" dirty="0"/>
          </a:p>
        </p:txBody>
      </p:sp>
      <p:pic>
        <p:nvPicPr>
          <p:cNvPr id="10" name="Picture 9">
            <a:extLst>
              <a:ext uri="{FF2B5EF4-FFF2-40B4-BE49-F238E27FC236}">
                <a16:creationId xmlns:a16="http://schemas.microsoft.com/office/drawing/2014/main" id="{39005801-E1C9-4E72-A81F-8AC6F3EC32E9}"/>
              </a:ext>
            </a:extLst>
          </p:cNvPr>
          <p:cNvPicPr>
            <a:picLocks noChangeAspect="1"/>
          </p:cNvPicPr>
          <p:nvPr/>
        </p:nvPicPr>
        <p:blipFill>
          <a:blip r:embed="rId2"/>
          <a:stretch>
            <a:fillRect/>
          </a:stretch>
        </p:blipFill>
        <p:spPr>
          <a:xfrm>
            <a:off x="7086827" y="1438382"/>
            <a:ext cx="4758969" cy="3698698"/>
          </a:xfrm>
          <a:prstGeom prst="rect">
            <a:avLst/>
          </a:prstGeom>
        </p:spPr>
      </p:pic>
    </p:spTree>
    <p:extLst>
      <p:ext uri="{BB962C8B-B14F-4D97-AF65-F5344CB8AC3E}">
        <p14:creationId xmlns:p14="http://schemas.microsoft.com/office/powerpoint/2010/main" val="378101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1EEB5-D785-E21F-DEB0-F786437773D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5EDB57A-F2DD-1DC5-3DC5-D11C95AB718E}"/>
              </a:ext>
            </a:extLst>
          </p:cNvPr>
          <p:cNvSpPr>
            <a:spLocks noGrp="1"/>
          </p:cNvSpPr>
          <p:nvPr>
            <p:ph type="title"/>
          </p:nvPr>
        </p:nvSpPr>
        <p:spPr>
          <a:xfrm>
            <a:off x="685800" y="1600200"/>
            <a:ext cx="6629401" cy="696191"/>
          </a:xfrm>
        </p:spPr>
        <p:txBody>
          <a:bodyPr>
            <a:normAutofit fontScale="90000"/>
          </a:bodyPr>
          <a:lstStyle/>
          <a:p>
            <a:r>
              <a:rPr lang="en-IN" b="1" dirty="0">
                <a:solidFill>
                  <a:schemeClr val="accent6">
                    <a:lumMod val="60000"/>
                    <a:lumOff val="40000"/>
                  </a:schemeClr>
                </a:solidFill>
              </a:rPr>
              <a:t>Top-Performing Channel in terms of Comments</a:t>
            </a:r>
          </a:p>
        </p:txBody>
      </p:sp>
      <p:sp>
        <p:nvSpPr>
          <p:cNvPr id="4" name="Text Placeholder 3">
            <a:extLst>
              <a:ext uri="{FF2B5EF4-FFF2-40B4-BE49-F238E27FC236}">
                <a16:creationId xmlns:a16="http://schemas.microsoft.com/office/drawing/2014/main" id="{1936A830-69E1-6415-5522-087CEA2D3181}"/>
              </a:ext>
            </a:extLst>
          </p:cNvPr>
          <p:cNvSpPr txBox="1">
            <a:spLocks/>
          </p:cNvSpPr>
          <p:nvPr/>
        </p:nvSpPr>
        <p:spPr>
          <a:xfrm>
            <a:off x="685801" y="2576945"/>
            <a:ext cx="6629400" cy="3065319"/>
          </a:xfrm>
          <a:prstGeom prst="rect">
            <a:avLst/>
          </a:prstGeom>
        </p:spPr>
        <p:txBody>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nSpc>
                <a:spcPct val="150000"/>
              </a:lnSpc>
            </a:pPr>
            <a:r>
              <a:rPr lang="en-IN" b="1" dirty="0"/>
              <a:t>Clustered column chart→ horizontal bars are easier to read, it gives quick comparison across categories.</a:t>
            </a:r>
          </a:p>
          <a:p>
            <a:pPr>
              <a:lnSpc>
                <a:spcPct val="150000"/>
              </a:lnSpc>
            </a:pPr>
            <a:r>
              <a:rPr lang="en-IN" b="1" dirty="0"/>
              <a:t>Y axis: Channel title</a:t>
            </a:r>
          </a:p>
          <a:p>
            <a:pPr>
              <a:lnSpc>
                <a:spcPct val="150000"/>
              </a:lnSpc>
            </a:pPr>
            <a:r>
              <a:rPr lang="en-IN" b="1" dirty="0"/>
              <a:t>X axis: Total Comments </a:t>
            </a:r>
          </a:p>
          <a:p>
            <a:endParaRPr lang="en-IN" b="1" dirty="0"/>
          </a:p>
          <a:p>
            <a:endParaRPr lang="en-IN" b="1" dirty="0"/>
          </a:p>
        </p:txBody>
      </p:sp>
      <p:pic>
        <p:nvPicPr>
          <p:cNvPr id="6" name="Picture 5">
            <a:extLst>
              <a:ext uri="{FF2B5EF4-FFF2-40B4-BE49-F238E27FC236}">
                <a16:creationId xmlns:a16="http://schemas.microsoft.com/office/drawing/2014/main" id="{A7C18269-EA4D-41D5-91C4-654E3CBED8A3}"/>
              </a:ext>
            </a:extLst>
          </p:cNvPr>
          <p:cNvPicPr>
            <a:picLocks noChangeAspect="1"/>
          </p:cNvPicPr>
          <p:nvPr/>
        </p:nvPicPr>
        <p:blipFill>
          <a:blip r:embed="rId2"/>
          <a:stretch>
            <a:fillRect/>
          </a:stretch>
        </p:blipFill>
        <p:spPr>
          <a:xfrm>
            <a:off x="7125798" y="1120131"/>
            <a:ext cx="5066202" cy="3688175"/>
          </a:xfrm>
          <a:prstGeom prst="rect">
            <a:avLst/>
          </a:prstGeom>
        </p:spPr>
      </p:pic>
    </p:spTree>
    <p:extLst>
      <p:ext uri="{BB962C8B-B14F-4D97-AF65-F5344CB8AC3E}">
        <p14:creationId xmlns:p14="http://schemas.microsoft.com/office/powerpoint/2010/main" val="10338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219F-FC69-993D-123F-AC461522E3C3}"/>
              </a:ext>
            </a:extLst>
          </p:cNvPr>
          <p:cNvSpPr>
            <a:spLocks noGrp="1"/>
          </p:cNvSpPr>
          <p:nvPr>
            <p:ph type="title"/>
          </p:nvPr>
        </p:nvSpPr>
        <p:spPr/>
        <p:txBody>
          <a:bodyPr/>
          <a:lstStyle/>
          <a:p>
            <a:r>
              <a:rPr lang="en-IN" b="1" dirty="0">
                <a:solidFill>
                  <a:srgbClr val="FFC000"/>
                </a:solidFill>
              </a:rPr>
              <a:t>Conclusion</a:t>
            </a:r>
          </a:p>
        </p:txBody>
      </p:sp>
      <p:sp>
        <p:nvSpPr>
          <p:cNvPr id="3" name="Content Placeholder 2">
            <a:extLst>
              <a:ext uri="{FF2B5EF4-FFF2-40B4-BE49-F238E27FC236}">
                <a16:creationId xmlns:a16="http://schemas.microsoft.com/office/drawing/2014/main" id="{9F238E68-9F8A-506E-29B3-EE0470482069}"/>
              </a:ext>
            </a:extLst>
          </p:cNvPr>
          <p:cNvSpPr>
            <a:spLocks noGrp="1"/>
          </p:cNvSpPr>
          <p:nvPr>
            <p:ph idx="1"/>
          </p:nvPr>
        </p:nvSpPr>
        <p:spPr>
          <a:xfrm>
            <a:off x="1103312" y="1659988"/>
            <a:ext cx="10375925" cy="4588411"/>
          </a:xfrm>
        </p:spPr>
        <p:txBody>
          <a:bodyPr>
            <a:normAutofit/>
          </a:bodyPr>
          <a:lstStyle/>
          <a:p>
            <a:pPr>
              <a:lnSpc>
                <a:spcPct val="150000"/>
              </a:lnSpc>
            </a:pPr>
            <a:r>
              <a:rPr lang="en-US" b="1" dirty="0">
                <a:latin typeface="+mj-lt"/>
              </a:rPr>
              <a:t>The YouTube Growth Analysis dashboard successfully transforms raw YouTube data into meaningful and interactive visual insights. By analyzing key performance indicators such as total views, likes, dislikes, comments, videos, and channels, the dashboard helps track channel growth, measure audience engagement, and compare video performance effectively.</a:t>
            </a:r>
          </a:p>
          <a:p>
            <a:pPr>
              <a:lnSpc>
                <a:spcPct val="150000"/>
              </a:lnSpc>
            </a:pPr>
            <a:r>
              <a:rPr lang="en-US" b="1" dirty="0">
                <a:latin typeface="+mj-lt"/>
              </a:rPr>
              <a:t>Through proper data visualization techniques, creators and analysts can easily identify trends, understand audience preferences, and make data-driven content decisions. Overall, this project improves strategic planning and supports continuous channel growth in a competitive digital environment.</a:t>
            </a:r>
            <a:endParaRPr lang="en-IN" b="1" dirty="0">
              <a:latin typeface="+mj-lt"/>
            </a:endParaRPr>
          </a:p>
        </p:txBody>
      </p:sp>
    </p:spTree>
    <p:extLst>
      <p:ext uri="{BB962C8B-B14F-4D97-AF65-F5344CB8AC3E}">
        <p14:creationId xmlns:p14="http://schemas.microsoft.com/office/powerpoint/2010/main" val="66310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862" y="2644725"/>
            <a:ext cx="10353762" cy="1012875"/>
          </a:xfrm>
        </p:spPr>
        <p:txBody>
          <a:bodyPr/>
          <a:lstStyle/>
          <a:p>
            <a:r>
              <a:rPr lang="en-US" dirty="0">
                <a:solidFill>
                  <a:srgbClr val="FFC000"/>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2865</TotalTime>
  <Words>1154</Words>
  <Application>Microsoft Office PowerPoint</Application>
  <PresentationFormat>Widescreen</PresentationFormat>
  <Paragraphs>119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 heading</vt:lpstr>
      <vt:lpstr>Calisto MT</vt:lpstr>
      <vt:lpstr>Trebuchet MS</vt:lpstr>
      <vt:lpstr>Wingdings</vt:lpstr>
      <vt:lpstr>Wingdings 2</vt:lpstr>
      <vt:lpstr>Slate</vt:lpstr>
      <vt:lpstr>YOUTUBE CHANNEL GROWTH ANALYSIS</vt:lpstr>
      <vt:lpstr>Introduction  </vt:lpstr>
      <vt:lpstr>        Problem statement</vt:lpstr>
      <vt:lpstr>Business Problem  </vt:lpstr>
      <vt:lpstr>Data overview</vt:lpstr>
      <vt:lpstr>Technology used</vt:lpstr>
      <vt:lpstr>Data Preprocessing</vt:lpstr>
      <vt:lpstr>Key Metrics and kPI’ s</vt:lpstr>
      <vt:lpstr>Data Modelling - Overview</vt:lpstr>
      <vt:lpstr>Dax Measures</vt:lpstr>
      <vt:lpstr>Power BI Dashboard Overview</vt:lpstr>
      <vt:lpstr>PowerPoint Presentation</vt:lpstr>
      <vt:lpstr>PowerPoint Presentation</vt:lpstr>
      <vt:lpstr>Identify the top-performing channels</vt:lpstr>
      <vt:lpstr>Total likes Across Different Months</vt:lpstr>
      <vt:lpstr>Highest and Lowest Total Likes Across Channels</vt:lpstr>
      <vt:lpstr>Highest and Lowest Total Like Across Channels</vt:lpstr>
      <vt:lpstr>Top Channel by Total Comments</vt:lpstr>
      <vt:lpstr>Top-Performing Channel in terms of Comments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YOUTUBE CHANNEL GROWTH ANALYSIS</dc:title>
  <dc:creator>tamilbharathi r</dc:creator>
  <cp:lastModifiedBy>Anudip1</cp:lastModifiedBy>
  <cp:revision>65</cp:revision>
  <dcterms:created xsi:type="dcterms:W3CDTF">2026-01-25T05:39:00Z</dcterms:created>
  <dcterms:modified xsi:type="dcterms:W3CDTF">2026-03-07T06:38:47Z</dcterms:modified>
</cp:coreProperties>
</file>